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ln w="15875">
            <a:solidFill>
              <a:srgbClr val="0A5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291840" cy="3291840"/>
          </a:xfrm>
          <a:prstGeom prst="ellipse">
            <a:avLst/>
          </a:prstGeom>
          <a:ln w="15875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137160"/>
            <a:ext cx="1737360" cy="1737360"/>
          </a:xfrm>
          <a:prstGeom prst="ellipse">
            <a:avLst/>
          </a:prstGeom>
          <a:solidFill>
            <a:srgbClr val="E4A008">
              <a:alpha val="12000"/>
            </a:srgbClr>
          </a:solidFill>
          <a:ln w="15875">
            <a:solidFill>
              <a:srgbClr val="E4A00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502920"/>
            <a:ext cx="1005840" cy="100584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2955" y="784555"/>
            <a:ext cx="442570" cy="4425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051560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 ·  PM PERSPECTIVE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1600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Spinny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22960" y="2697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E4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Manager's Playbook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822960" y="34290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prioritised, evidence-graded strategic bets to convert Spinny's premium-trust position into durable platform economics ahead of a public listing.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Valuedrive Technologies Pvt. Ltd.</a:t>
            </a:r>
            <a:pPr indent="0" marL="0">
              <a:buNone/>
            </a:pPr>
            <a:r>
              <a:rPr lang="en-US" sz="1200" dirty="0">
                <a:solidFill>
                  <a:srgbClr val="9F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Full-stack used-car retail, India   |   Reporting period through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lens I bring to the mandate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filtered through Spinny's own stated identity and balance-sheet reality — not generic growth tactics.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03120"/>
            <a:ext cx="777240" cy="77724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232074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84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product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54203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of the car is how trust is manufactured. Any bet must reinforce — never dilute — the premium-trust brand.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46520" y="182880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02552" y="2103120"/>
            <a:ext cx="777240" cy="77724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179" y="232074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2084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over breadth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80960" y="254203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more of each customer's automotive lifetime. Monetise via financing, service &amp; warranty attach, not thin sale margin.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160520"/>
            <a:ext cx="777240" cy="77724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" y="437814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1422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Pre-IPO capital discipline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74520" y="459943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~$340M raised in 18 months at a flat valuation. Favour capital-light, on-identity moves over balance-sheet-heavy expansion.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46520" y="388620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02552" y="4160520"/>
            <a:ext cx="777240" cy="77724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179" y="4378147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0" y="41422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before spend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680960" y="459943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each bet EVIDENCE-BACKED vs DIRECTIONAL. Commit spend only where a named metric justifies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PREREQUISITE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First, fix the one thing that gates everything else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583680" cy="4251960"/>
          </a:xfrm>
          <a:prstGeom prst="roundRect">
            <a:avLst>
              <a:gd name="adj" fmla="val 1720"/>
            </a:avLst>
          </a:prstGeom>
          <a:solidFill>
            <a:srgbClr val="13294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48840"/>
            <a:ext cx="914400" cy="914400"/>
          </a:xfrm>
          <a:prstGeom prst="ellipse">
            <a:avLst/>
          </a:prstGeom>
          <a:solidFill>
            <a:srgbClr val="B23A48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40487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2128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Post-sale service quality is the binding constraint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60120" y="31546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most consistently evidenced finding across the research — and it caps the entire lifecycle / LTV thesis.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3886200"/>
            <a:ext cx="5852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/ registration &amp; paperwork delays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disputes and slow resolution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seller-side calls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resolved only after social-media escalation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98080" y="1828800"/>
            <a:ext cx="4023360" cy="4251960"/>
          </a:xfrm>
          <a:prstGeom prst="roundRect">
            <a:avLst>
              <a:gd name="adj" fmla="val 1818"/>
            </a:avLst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2103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comes first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818120" y="269748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loyalty &amp; referral bet (R3) is explicitly </a:t>
            </a:r>
            <a:pPr indent="0" marL="0">
              <a:lnSpc>
                <a:spcPct val="112000"/>
              </a:lnSpc>
              <a:buNone/>
            </a:pPr>
            <a:r>
              <a:rPr lang="en-US" sz="1350" b="1" i="1" dirty="0">
                <a:solidFill>
                  <a:srgbClr val="EA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A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behind this fix.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18120" y="356616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loyalty layer built on a weak post-sales experience amplifies negative word-of-mouth rather than reducing it.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818120" y="4800600"/>
            <a:ext cx="3200400" cy="0"/>
          </a:xfrm>
          <a:prstGeom prst="line">
            <a:avLst/>
          </a:prstGeom>
          <a:noFill/>
          <a:ln w="12700">
            <a:solidFill>
              <a:srgbClr val="7FC9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498348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spc="100" kern="0" dirty="0">
                <a:solidFill>
                  <a:srgbClr val="BD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Post-sales SLA compliance &amp; resolution time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recommendations, sequenced by evidence &amp; identity-fit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reflects strength of evidence, fit with Spinny's strategic identity, and capital intensity vs the current balance sheet.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270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566928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00200" y="1865376"/>
            <a:ext cx="512064" cy="512064"/>
          </a:xfrm>
          <a:prstGeom prst="ellipse">
            <a:avLst/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578" y="2008754"/>
            <a:ext cx="225308" cy="2253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1783080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Used-EV Trust Standard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818120" y="1984248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19842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921240" y="193852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3" name="Text 10"/>
          <p:cNvSpPr/>
          <p:nvPr/>
        </p:nvSpPr>
        <p:spPr>
          <a:xfrm>
            <a:off x="9921240" y="19385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2679192"/>
            <a:ext cx="109270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" y="2834640"/>
            <a:ext cx="566928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83464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1600200" y="2852928"/>
            <a:ext cx="512064" cy="512064"/>
          </a:xfrm>
          <a:prstGeom prst="ellipse">
            <a:avLst/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578" y="2996306"/>
            <a:ext cx="225308" cy="2253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286000" y="27706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Asset-Light SEO + Fulfilment into Tier-2/3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7818120" y="2971800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/>
        </p:spPr>
      </p:sp>
      <p:sp>
        <p:nvSpPr>
          <p:cNvPr id="21" name="Text 17"/>
          <p:cNvSpPr/>
          <p:nvPr/>
        </p:nvSpPr>
        <p:spPr>
          <a:xfrm>
            <a:off x="7818120" y="2971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9921240" y="29260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23" name="Text 19"/>
          <p:cNvSpPr/>
          <p:nvPr/>
        </p:nvSpPr>
        <p:spPr>
          <a:xfrm>
            <a:off x="992124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MED–HIGH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40080" y="3666744"/>
            <a:ext cx="109270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22960" y="3822192"/>
            <a:ext cx="566928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26" name="Text 22"/>
          <p:cNvSpPr/>
          <p:nvPr/>
        </p:nvSpPr>
        <p:spPr>
          <a:xfrm>
            <a:off x="822960" y="3822192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1600200" y="3840480"/>
            <a:ext cx="512064" cy="512064"/>
          </a:xfrm>
          <a:prstGeom prst="ellipse">
            <a:avLst/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578" y="3983858"/>
            <a:ext cx="225308" cy="2253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2286000" y="3758184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Loyalty &amp; Referral Programme</a:t>
            </a:r>
            <a:endParaRPr lang="en-US" sz="1550" dirty="0"/>
          </a:p>
        </p:txBody>
      </p:sp>
      <p:sp>
        <p:nvSpPr>
          <p:cNvPr id="30" name="Shape 25"/>
          <p:cNvSpPr/>
          <p:nvPr/>
        </p:nvSpPr>
        <p:spPr>
          <a:xfrm>
            <a:off x="7818120" y="3959352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/>
        </p:spPr>
      </p:sp>
      <p:sp>
        <p:nvSpPr>
          <p:cNvPr id="31" name="Text 26"/>
          <p:cNvSpPr/>
          <p:nvPr/>
        </p:nvSpPr>
        <p:spPr>
          <a:xfrm>
            <a:off x="7818120" y="395935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9921240" y="391363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4A008"/>
          </a:solidFill>
          <a:ln/>
        </p:spPr>
      </p:sp>
      <p:sp>
        <p:nvSpPr>
          <p:cNvPr id="33" name="Text 28"/>
          <p:cNvSpPr/>
          <p:nvPr/>
        </p:nvSpPr>
        <p:spPr>
          <a:xfrm>
            <a:off x="9921240" y="39136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→ HIGH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40080" y="4654296"/>
            <a:ext cx="109270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822960" y="4809744"/>
            <a:ext cx="566928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36" name="Text 31"/>
          <p:cNvSpPr/>
          <p:nvPr/>
        </p:nvSpPr>
        <p:spPr>
          <a:xfrm>
            <a:off x="822960" y="4809744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1700" dirty="0"/>
          </a:p>
        </p:txBody>
      </p:sp>
      <p:sp>
        <p:nvSpPr>
          <p:cNvPr id="37" name="Shape 32"/>
          <p:cNvSpPr/>
          <p:nvPr/>
        </p:nvSpPr>
        <p:spPr>
          <a:xfrm>
            <a:off x="1600200" y="4828032"/>
            <a:ext cx="512064" cy="512064"/>
          </a:xfrm>
          <a:prstGeom prst="ellipse">
            <a:avLst/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578" y="4971410"/>
            <a:ext cx="225308" cy="22530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2286000" y="4745736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Fleet / Aggregator Sales  (Park)</a:t>
            </a:r>
            <a:endParaRPr lang="en-US" sz="1550" dirty="0"/>
          </a:p>
        </p:txBody>
      </p:sp>
      <p:sp>
        <p:nvSpPr>
          <p:cNvPr id="40" name="Shape 34"/>
          <p:cNvSpPr/>
          <p:nvPr/>
        </p:nvSpPr>
        <p:spPr>
          <a:xfrm>
            <a:off x="7818120" y="4946904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/>
        </p:spPr>
      </p:sp>
      <p:sp>
        <p:nvSpPr>
          <p:cNvPr id="41" name="Text 35"/>
          <p:cNvSpPr/>
          <p:nvPr/>
        </p:nvSpPr>
        <p:spPr>
          <a:xfrm>
            <a:off x="7818120" y="494690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9921240" y="4901184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/>
        </p:spPr>
      </p:sp>
      <p:sp>
        <p:nvSpPr>
          <p:cNvPr id="43" name="Text 37"/>
          <p:cNvSpPr/>
          <p:nvPr/>
        </p:nvSpPr>
        <p:spPr>
          <a:xfrm>
            <a:off x="9921240" y="490118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640080" y="5641848"/>
            <a:ext cx="109270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822960" y="5797296"/>
            <a:ext cx="566928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46" name="Text 40"/>
          <p:cNvSpPr/>
          <p:nvPr/>
        </p:nvSpPr>
        <p:spPr>
          <a:xfrm>
            <a:off x="822960" y="579729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1700" dirty="0"/>
          </a:p>
        </p:txBody>
      </p:sp>
      <p:sp>
        <p:nvSpPr>
          <p:cNvPr id="47" name="Shape 41"/>
          <p:cNvSpPr/>
          <p:nvPr/>
        </p:nvSpPr>
        <p:spPr>
          <a:xfrm>
            <a:off x="1600200" y="5815584"/>
            <a:ext cx="512064" cy="512064"/>
          </a:xfrm>
          <a:prstGeom prst="ellipse">
            <a:avLst/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3578" y="5958962"/>
            <a:ext cx="225308" cy="225308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2286000" y="5733288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Subscription-Based Ownership  (Defer)</a:t>
            </a:r>
            <a:endParaRPr lang="en-US" sz="1550" dirty="0"/>
          </a:p>
        </p:txBody>
      </p:sp>
      <p:sp>
        <p:nvSpPr>
          <p:cNvPr id="50" name="Shape 43"/>
          <p:cNvSpPr/>
          <p:nvPr/>
        </p:nvSpPr>
        <p:spPr>
          <a:xfrm>
            <a:off x="7818120" y="5934456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/>
        </p:spPr>
      </p:sp>
      <p:sp>
        <p:nvSpPr>
          <p:cNvPr id="51" name="Text 44"/>
          <p:cNvSpPr/>
          <p:nvPr/>
        </p:nvSpPr>
        <p:spPr>
          <a:xfrm>
            <a:off x="7818120" y="593445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9921240" y="5888736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/>
        </p:spPr>
      </p:sp>
      <p:sp>
        <p:nvSpPr>
          <p:cNvPr id="53" name="Text 46"/>
          <p:cNvSpPr/>
          <p:nvPr/>
        </p:nvSpPr>
        <p:spPr>
          <a:xfrm>
            <a:off x="9921240" y="58887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Used-EV Trust Standard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755648" y="109728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767328" y="10972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8" name="Text 6"/>
          <p:cNvSpPr/>
          <p:nvPr/>
        </p:nvSpPr>
        <p:spPr>
          <a:xfrm>
            <a:off x="3767328" y="10972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424160" y="457200"/>
            <a:ext cx="914400" cy="91440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71323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“Spinny Assured EV” — battery-health certification and certified used-EV retail, anchored on existing OEM exchange rails (Tesla “Switch &amp; Save”, Nissan). No player owns the used-EV trust standard today, and the 200-point inspection framework extends naturally to battery state-of-health.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2514600"/>
            <a:ext cx="3502152" cy="37947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2743200"/>
            <a:ext cx="548640" cy="548640"/>
          </a:xfrm>
          <a:prstGeom prst="ellipse">
            <a:avLst/>
          </a:prstGeom>
          <a:solidFill>
            <a:srgbClr val="2E7D5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289681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74320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96112" y="3429000"/>
            <a:ext cx="299923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category standard early — first-mover on used-EV trust.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EV-exchange supply into premium-priced certified retail.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incremental inventory risk — rides EV adoption without EV-inventory exposure.</a:t>
            </a:r>
            <a:endParaRPr lang="en-US" sz="1180" dirty="0"/>
          </a:p>
        </p:txBody>
      </p:sp>
      <p:sp>
        <p:nvSpPr>
          <p:cNvPr id="17" name="Shape 13"/>
          <p:cNvSpPr/>
          <p:nvPr/>
        </p:nvSpPr>
        <p:spPr>
          <a:xfrm>
            <a:off x="4325112" y="2514600"/>
            <a:ext cx="3502152" cy="37947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53712" y="2743200"/>
            <a:ext cx="548640" cy="548640"/>
          </a:xfrm>
          <a:prstGeom prst="ellipse">
            <a:avLst/>
          </a:prstGeom>
          <a:solidFill>
            <a:srgbClr val="B23A48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331" y="289681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3792" y="274320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trade-offs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581144" y="3429000"/>
            <a:ext cx="299923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Used-EV resale volume is still small today.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Battery-diagnostics capex and technician skilling required.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Battery-degradation warranty is an expensive failure mode.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partnerships are non-exclusive.</a:t>
            </a:r>
            <a:endParaRPr lang="en-US" sz="1180" dirty="0"/>
          </a:p>
        </p:txBody>
      </p:sp>
      <p:sp>
        <p:nvSpPr>
          <p:cNvPr id="22" name="Shape 17"/>
          <p:cNvSpPr/>
          <p:nvPr/>
        </p:nvSpPr>
        <p:spPr>
          <a:xfrm>
            <a:off x="8010144" y="2514600"/>
            <a:ext cx="3502152" cy="37947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38744" y="2743200"/>
            <a:ext cx="548640" cy="54864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363" y="289681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78824" y="274320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to watch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266176" y="3429000"/>
            <a:ext cx="299923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used-EVs sold / month.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Battery-certification attach rate.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Used-EV gross margin vs ICE.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Tesla / Nissan exchange volume retained as Spinny retail.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Asset-Light SEO + Tier-2/3 Fulfilment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755648" y="109728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767328" y="10972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3767328" y="10972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MED–HIGH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424160" y="457200"/>
            <a:ext cx="914400" cy="91440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71323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Autocar's editorial authority at non-brand commercial keywords, and pair the resulting traffic with Spinny Circle dealer fulfilment so Tier-2/3 demand can actually convert. Non-brand SEO is Spinny's clearest measurable digital weakness; physical hubs cannot economically reach Tier-2/3.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2514600"/>
            <a:ext cx="3502152" cy="37947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2743200"/>
            <a:ext cx="548640" cy="548640"/>
          </a:xfrm>
          <a:prstGeom prst="ellipse">
            <a:avLst/>
          </a:prstGeom>
          <a:solidFill>
            <a:srgbClr val="2E7D5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289681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74320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96112" y="3429000"/>
            <a:ext cx="299923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blended CAC and closes the CarDekho organic gap.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Tier-2/3 demand without proportional hub capex.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Monetises the Autocar (Haymarket) media acquisition.</a:t>
            </a:r>
            <a:endParaRPr lang="en-US" sz="1180" dirty="0"/>
          </a:p>
        </p:txBody>
      </p:sp>
      <p:sp>
        <p:nvSpPr>
          <p:cNvPr id="17" name="Shape 13"/>
          <p:cNvSpPr/>
          <p:nvPr/>
        </p:nvSpPr>
        <p:spPr>
          <a:xfrm>
            <a:off x="4325112" y="2514600"/>
            <a:ext cx="3502152" cy="37947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53712" y="2743200"/>
            <a:ext cx="548640" cy="548640"/>
          </a:xfrm>
          <a:prstGeom prst="ellipse">
            <a:avLst/>
          </a:prstGeom>
          <a:solidFill>
            <a:srgbClr val="B23A48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331" y="289681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3792" y="274320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trade-offs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581144" y="3429000"/>
            <a:ext cx="299923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is slow to compound — 2–4 quarters to move.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without local fulfilment risks unconvertible leads and brand damage.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quality on Spinny Circle could dilute the premium brand.</a:t>
            </a:r>
            <a:endParaRPr lang="en-US" sz="1180" dirty="0"/>
          </a:p>
        </p:txBody>
      </p:sp>
      <p:sp>
        <p:nvSpPr>
          <p:cNvPr id="22" name="Shape 17"/>
          <p:cNvSpPr/>
          <p:nvPr/>
        </p:nvSpPr>
        <p:spPr>
          <a:xfrm>
            <a:off x="8010144" y="2514600"/>
            <a:ext cx="3502152" cy="37947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38744" y="2743200"/>
            <a:ext cx="548640" cy="54864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363" y="289681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78824" y="274320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to watch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266176" y="3429000"/>
            <a:ext cx="299923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Non-brand organic sessions &amp; rank for target commercial terms.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Organic-to-lead conversion in Tier-2/3.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 Circle dealer count and GMV.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Blended-CAC trend.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Loyalty &amp; Referral Programme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755648" y="109728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767328" y="10972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4A008"/>
          </a:solidFill>
          <a:ln/>
        </p:spPr>
      </p:sp>
      <p:sp>
        <p:nvSpPr>
          <p:cNvPr id="8" name="Text 6"/>
          <p:cNvSpPr/>
          <p:nvPr/>
        </p:nvSpPr>
        <p:spPr>
          <a:xfrm>
            <a:off x="3767328" y="10972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MED → HIGH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424160" y="457200"/>
            <a:ext cx="914400" cy="91440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71323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referral plus a service / buy-back loyalty tier — sequenced only after the post-sales SLA is fixed. Referral and word-of-mouth are already Spinny's primary growth loop; a loyalty layer on today's weak post-sales experience would amplify negative word-of-mouth instead.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2514600"/>
            <a:ext cx="3502152" cy="37947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2743200"/>
            <a:ext cx="548640" cy="548640"/>
          </a:xfrm>
          <a:prstGeom prst="ellipse">
            <a:avLst/>
          </a:prstGeom>
          <a:solidFill>
            <a:srgbClr val="2E7D5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289681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74320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96112" y="3429000"/>
            <a:ext cx="299923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repeat-purchase and referral rate at near-zero CAC.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LTV and strengthens the data flywheel.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growth lever available to the business.</a:t>
            </a:r>
            <a:endParaRPr lang="en-US" sz="1180" dirty="0"/>
          </a:p>
        </p:txBody>
      </p:sp>
      <p:sp>
        <p:nvSpPr>
          <p:cNvPr id="17" name="Shape 13"/>
          <p:cNvSpPr/>
          <p:nvPr/>
        </p:nvSpPr>
        <p:spPr>
          <a:xfrm>
            <a:off x="4325112" y="2514600"/>
            <a:ext cx="3502152" cy="37947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53712" y="2743200"/>
            <a:ext cx="548640" cy="548640"/>
          </a:xfrm>
          <a:prstGeom prst="ellipse">
            <a:avLst/>
          </a:prstGeom>
          <a:solidFill>
            <a:srgbClr val="B23A48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331" y="2896819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3792" y="274320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trade-offs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581144" y="3429000"/>
            <a:ext cx="299923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launch worsens reputation — must follow the post-sales fix.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economics unknown without a referral-rate baseline.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Gated: sequenced behind the cross-cutting prerequisite.</a:t>
            </a:r>
            <a:endParaRPr lang="en-US" sz="1180" dirty="0"/>
          </a:p>
        </p:txBody>
      </p:sp>
      <p:sp>
        <p:nvSpPr>
          <p:cNvPr id="22" name="Shape 17"/>
          <p:cNvSpPr/>
          <p:nvPr/>
        </p:nvSpPr>
        <p:spPr>
          <a:xfrm>
            <a:off x="8010144" y="2514600"/>
            <a:ext cx="3502152" cy="379476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38744" y="2743200"/>
            <a:ext cx="548640" cy="54864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363" y="289681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78824" y="2743200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to watch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266176" y="3429000"/>
            <a:ext cx="2999232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rate (% of sales referral-sourced).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Repeat-purchase / buy-back rate.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NPS.</a:t>
            </a:r>
            <a:endParaRPr lang="en-US" sz="1180" dirty="0"/>
          </a:p>
          <a:p>
            <a:pPr marL="152400" indent="-152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Service-attach rate among members.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disciplined “not yet” calls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LOW not because they are poor ideas, but because current research holds no demand evidence — and both work against the premium-trust, capital-light, pre-IPO posture.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21284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Fleet / Aggregator Sales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800600" y="235915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23591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whitespace in principle — but validate demand and margin before pursuing.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HOLD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416052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/ aggregator buyers are price-led, the opposite of Spinny's premium-trust segment. Bulk discounting would further compress already-thin retail margins.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5440680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EE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440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proven bulk demand + margin floor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92024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E0E5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21945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194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52360" y="221284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Subscription-Based Ownership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10424160" y="235915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4160" y="23591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3108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0A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to post-IPO; if tested, only via a capital-light or partner-financed structure.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HOLD 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416052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keeps cars on the balance sheet longer and adds residual-value risk exactly when the pre-IPO narrative depends on capital discipline. Indian demand is unproven.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5440680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EEF3F5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5440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post-IPO + partner-financed model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Sequencing logic: the order is the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first is decided by evidence strength, identity-fit and capital intensity — not by upside alone.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2468880"/>
            <a:ext cx="768096" cy="768096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24688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04672" y="3429000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post-sales SLA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prerequisite. Unblocks R3 and protects the trust brand.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2706624" y="3822192"/>
            <a:ext cx="219456" cy="219456"/>
          </a:xfrm>
          <a:prstGeom prst="ellipse">
            <a:avLst/>
          </a:prstGeom>
          <a:solidFill>
            <a:srgbClr val="E4A008"/>
          </a:solidFill>
          <a:ln/>
        </p:spPr>
      </p:sp>
      <p:sp>
        <p:nvSpPr>
          <p:cNvPr id="10" name="Shape 8"/>
          <p:cNvSpPr/>
          <p:nvPr/>
        </p:nvSpPr>
        <p:spPr>
          <a:xfrm>
            <a:off x="2852928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2468880"/>
            <a:ext cx="768096" cy="7680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24688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017520" y="3429000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 · Used-EV trust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35808" y="420624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Evidence-backed, on-identity, low-capital — so it leads.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919472" y="3822192"/>
            <a:ext cx="219456" cy="219456"/>
          </a:xfrm>
          <a:prstGeom prst="ellipse">
            <a:avLst/>
          </a:prstGeom>
          <a:solidFill>
            <a:srgbClr val="E4A008"/>
          </a:solidFill>
          <a:ln/>
        </p:spPr>
      </p:sp>
      <p:sp>
        <p:nvSpPr>
          <p:cNvPr id="16" name="Shape 14"/>
          <p:cNvSpPr/>
          <p:nvPr/>
        </p:nvSpPr>
        <p:spPr>
          <a:xfrm>
            <a:off x="5065776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24144" y="2468880"/>
            <a:ext cx="768096" cy="7680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5724144" y="24688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30368" y="3429000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 · SEO + Circle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48656" y="420624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the clearest measured digital gap; depends on fulfilment quality.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132320" y="3822192"/>
            <a:ext cx="219456" cy="219456"/>
          </a:xfrm>
          <a:prstGeom prst="ellipse">
            <a:avLst/>
          </a:prstGeom>
          <a:solidFill>
            <a:srgbClr val="E4A008"/>
          </a:solidFill>
          <a:ln/>
        </p:spPr>
      </p:sp>
      <p:sp>
        <p:nvSpPr>
          <p:cNvPr id="22" name="Shape 20"/>
          <p:cNvSpPr/>
          <p:nvPr/>
        </p:nvSpPr>
        <p:spPr>
          <a:xfrm>
            <a:off x="7278624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6992" y="2468880"/>
            <a:ext cx="768096" cy="768096"/>
          </a:xfrm>
          <a:prstGeom prst="ellipse">
            <a:avLst/>
          </a:prstGeom>
          <a:solidFill>
            <a:srgbClr val="E4A008"/>
          </a:solidFill>
          <a:ln/>
        </p:spPr>
      </p:sp>
      <p:sp>
        <p:nvSpPr>
          <p:cNvPr id="24" name="Text 22"/>
          <p:cNvSpPr/>
          <p:nvPr/>
        </p:nvSpPr>
        <p:spPr>
          <a:xfrm>
            <a:off x="7936992" y="24688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443216" y="3429000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 · Loyalty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61504" y="420624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lever — but only once post-sales is fixed.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9345168" y="3822192"/>
            <a:ext cx="219456" cy="219456"/>
          </a:xfrm>
          <a:prstGeom prst="ellipse">
            <a:avLst/>
          </a:prstGeom>
          <a:solidFill>
            <a:srgbClr val="E4A008"/>
          </a:solidFill>
          <a:ln/>
        </p:spPr>
      </p:sp>
      <p:sp>
        <p:nvSpPr>
          <p:cNvPr id="28" name="Shape 26"/>
          <p:cNvSpPr/>
          <p:nvPr/>
        </p:nvSpPr>
        <p:spPr>
          <a:xfrm>
            <a:off x="9491472" y="21488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3294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49840" y="2468880"/>
            <a:ext cx="768096" cy="768096"/>
          </a:xfrm>
          <a:prstGeom prst="ellipse">
            <a:avLst/>
          </a:prstGeom>
          <a:solidFill>
            <a:srgbClr val="5B6B7B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9840" y="24688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656064" y="3429000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 / R5 · Hold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74352" y="4206240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&amp; defer until demand evidence exists.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4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decisive risk is unit economics, not market position — Spinny has already won the premium-trust corner.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291840"/>
            <a:ext cx="4754880" cy="4754880"/>
          </a:xfrm>
          <a:prstGeom prst="ellipse">
            <a:avLst/>
          </a:prstGeom>
          <a:ln w="15875">
            <a:solidFill>
              <a:srgbClr val="0A5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114800"/>
            <a:ext cx="3108960" cy="3108960"/>
          </a:xfrm>
          <a:prstGeom prst="ellipse">
            <a:avLst/>
          </a:prstGeom>
          <a:ln w="15875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4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thesis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trust at the point of sale into a high-LTV finance-and-service relationship — </a:t>
            </a:r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4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fix post-sales before you scale the loops that depend on it.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3294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520440"/>
            <a:ext cx="822960" cy="82296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709" y="375086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4434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used-EV trust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4892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Evidence-backed, low-capital, on-identity.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32461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3294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3520440"/>
            <a:ext cx="822960" cy="82296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309" y="3750869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4434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organic gap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54880" y="4892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Spinny Circle for Tier-2/3 reach.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32461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3294B"/>
          </a:solidFill>
          <a:ln w="12700">
            <a:solidFill>
              <a:srgbClr val="0A5C5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3520440"/>
            <a:ext cx="822960" cy="822960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76200" dist="25400" dir="5400000">
              <a:srgbClr val="0B1F3A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909" y="3750869"/>
            <a:ext cx="362102" cy="3621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4434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unlock loyalty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12480" y="4892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lever — once post-sales holds.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Spinny — Step 7 · Product Manager Perspective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Spinny — Product Manager Perspective</dc:title>
  <dc:subject>PptxGenJS Presentation</dc:subject>
  <dc:creator>Jeetu</dc:creator>
  <cp:lastModifiedBy>Jeetu</cp:lastModifiedBy>
  <cp:revision>1</cp:revision>
  <dcterms:created xsi:type="dcterms:W3CDTF">2026-07-07T06:21:14Z</dcterms:created>
  <dcterms:modified xsi:type="dcterms:W3CDTF">2026-07-07T06:21:14Z</dcterms:modified>
</cp:coreProperties>
</file>
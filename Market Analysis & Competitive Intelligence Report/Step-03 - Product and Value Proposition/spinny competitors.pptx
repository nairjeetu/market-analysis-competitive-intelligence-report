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Growth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3400</c:v>
                </c:pt>
                <c:pt idx="1">
                  <c:v>5600</c:v>
                </c:pt>
                <c:pt idx="2">
                  <c:v>6917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3F-8A4B-9BE4-B3F37A632F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Net Loss (₹ Cr) — Losses persisting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Loss (₹ Cr)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</c:v>
                </c:pt>
                <c:pt idx="1">
                  <c:v>468</c:v>
                </c:pt>
                <c:pt idx="2">
                  <c:v>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3-D44F-90B0-BDECAEF0E5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Estimated Revenue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0E-9446-9009-96CFFD76D882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0E-9446-9009-96CFFD76D882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0E-9446-9009-96CFFD76D882}"/>
              </c:ext>
            </c:extLst>
          </c:dPt>
          <c:dPt>
            <c:idx val="3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0E-9446-9009-96CFFD76D88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F0E-9446-9009-96CFFD76D88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F0E-9446-9009-96CFFD76D88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F0E-9446-9009-96CFFD76D88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F0E-9446-9009-96CFFD76D8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Advertising</c:v>
                </c:pt>
                <c:pt idx="1">
                  <c:v>Lead Generation</c:v>
                </c:pt>
                <c:pt idx="2">
                  <c:v>Insurance &amp; Finance</c:v>
                </c:pt>
                <c:pt idx="3">
                  <c:v>Other 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0E-9446-9009-96CFFD76D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Monthly Active Users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E7-3046-9D56-67BF08AB889F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E7-3046-9D56-67BF08AB889F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E7-3046-9D56-67BF08AB88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CarWale+BikeWale
(Sep 2025)</c:v>
                </c:pt>
                <c:pt idx="1">
                  <c:v>CarDekho
(est.)</c:v>
                </c:pt>
                <c:pt idx="2">
                  <c:v>Spinny
(est.)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50</c:v>
                </c:pt>
                <c:pt idx="2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4E7-3046-9D56-67BF08AB88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Growth YoY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YoY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22-3940-BD94-208E61F01402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22-3940-BD94-208E61F01402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22-3940-BD94-208E61F0140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Q2 FY26
Revenue Growth</c:v>
                </c:pt>
                <c:pt idx="1">
                  <c:v>CarDekho
FY25</c:v>
                </c:pt>
                <c:pt idx="2">
                  <c:v>CARS24
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24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22-3940-BD94-208E61F014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01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Market Competitors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spinny.com — Competitive Intelligence Report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Semrush, Tracxn, Similarweb, Dealroom, PitchBook &amp; Industry Reports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cars24.com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 Competitor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9260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Giant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 Competitor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carwale.com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Authority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 Competitor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cars24.com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 — Full-Stack Automotive Commerce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₹6,917Cr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~18.8M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Valuation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" y="2715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C2B: Sellers → AI auction → 20,000+ dealer network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0266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CARS24-certified inventory sold direct to buyers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33375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arm (CARS24 Financial Services): ₹6,200Cr loan 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" y="36484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embedded at checkout (~38% attachment rate)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39593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eChallan, driver hire &amp; EV battery diagnostics (2025)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715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140-point AI-assisted inspection per vehicle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266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~220K units in FY25 (throughput +30%)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3375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return policy; &lt;1.5% return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484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payout via Seller Kavach protection policy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93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prep in progress for 2026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2D1B1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to Spinny: Dominates both organic &amp; paid keyword lists; 20,000+ dealer network gives unmatched price discovery via live auction. #1 organic &amp; paid competitor.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cars24.com — Financial &amp; Operational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2015  |  Gurugram  |  Unicorn since 2020  |  ~4,618 employees (Aug 2025)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38404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Investors: DST Global · SoftBank · Alpha Wave Global · Tencent · Falcon Edge Capital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0040" y="4251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  vs  Spinny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" y="4617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(FY24)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017520" y="4617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₹6,917 Cr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60720" y="4617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₹3,725 Cr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7731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(FY24)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017520" y="47731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₹498 Cr ↑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760720" y="47731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₹590 Cr ↓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20040" y="49286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Raised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017520" y="49286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760720" y="49286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$170M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0040" y="4443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017520" y="4443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760720" y="4443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cardekho.com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Discovery Giant — India's Largest Automotive Media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₹2,795Cr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Unique Visitors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(2024)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" y="271576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rich content portal (not an inventory holder)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0266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Advertising: OEMs &amp; dealers promote on platform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333756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generation: connects buyers to dealers (commission)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" y="36484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financing referral commissions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395935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International: Indonesia (oto.com), Philippines (carmudi.com.ph)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71576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"Feel The Car" tool with sounds &amp; feature videos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266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 YouTube subscribers — largest auto video platform in India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33756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Gaadi Stores (sell) + Trust Mark Stores (buy) offline 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484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 Mall, Jaipur — one of India's largest used-car showrooms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935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warranty + 7-day money-back on certified cars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2D1F0D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to Spinny: Top-of-funnel content dominance (50M monthly users) shapes buyer intent before they reach Spinny. CarDekho captures research-phase traffic Spinny cannot easily displace.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 — Platform Portfolio &amp;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2008  |  Jaipur  |  GirnarSoft parent  |  ~2,381 employees  |  Unicorn 2021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Portfolio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— buy/sell/research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53619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BikeDekho.com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 marketplace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53619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ZigWheels.com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specifications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9631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Gaadi.com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classifieds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49631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PowerDrift.com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video content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249631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oto.com (ID)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auto portal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320040" y="3520440"/>
          <a:ext cx="43891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892040" y="3520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Pipeline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0" y="40050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raise: $500M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valuation: $2.0–2.5B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(~2× 2021 unicorn valuation of $1.2B)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filing targeted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carwale.com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Pricing Authority — Part of Listed CarTrade Tech (NSE: CARTRADE)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$143.6M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(2026)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65M+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Served/Yr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 Q2 FY26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" y="2715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marketplace/classifieds — does NOT hold inventory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0266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fees from dealers &amp; individuals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33375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advertising (Tata, Hyundai, Maruti, MG)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" y="36484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commissions via bank partnerships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3959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referral commissions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715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authoritative source for new car pricing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266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 pages of reviews, road tests, comparisons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3375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 abSure: 100+ certified used-car outlets, 29 geographies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484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residual value insights — tracks inventory turnover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9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CarTrade Tech is publicly listed — full transparency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0D2018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to Spinny: 57M MAUs and OEM-level relationships mean CarWale shapes new-car buyer journeys that convert to used-car searches. Competes heavily for shared organic keywords with Spinny.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carwale.com — Traffic, Revenue &amp; Positioning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2005  |  Navi Mumbai  |  Owned by CarTrade Tech (listed)  |  ~1,150 employees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822192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Publicly listed parent (CarTrade Tech)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383280" y="3858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transparency gives institutional investor confidence — and IPO-ready discipline.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4242816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OEM relationships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directly with Tata, Hyundai, Maruti, MG — sits at the research entry point of the car buying funnel.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4663440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abSure physical network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4700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outlets across 29 geographies creating offline touchpoints that complement digital reach.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Head-to-Head: Top 3 vs Spinny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 across key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" y="1078992"/>
            <a:ext cx="1874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115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78992"/>
            <a:ext cx="1691640" cy="384048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078992"/>
            <a:ext cx="1691640" cy="384048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078992"/>
            <a:ext cx="1691640" cy="38404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078992"/>
            <a:ext cx="1691640" cy="384048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1490472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517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8620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" y="1883664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19110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Type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C2B + B2C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8620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Curated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7160" y="2276856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304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Traffic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0312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8620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 uniq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~57M MAU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~4.1M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" y="2670048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(latest)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0312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₹6,917Cr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8620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₹2,795Cr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$143.6M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₹4,657Cr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37160" y="3063240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3090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10312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8620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$5.85M*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37160" y="3456432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3483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Inventory?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0312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4884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88620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66928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5236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37160" y="3849624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3877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Authority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10312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88620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66928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1500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0664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236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37160" y="4242816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4270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Status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10312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4884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88620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3192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6928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71500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✓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40664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5236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talks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37160" y="4864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CarWale is now fully owned by listed CarTrade Tech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Implications for Spinny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competitor data means for Spinny's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53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CARS24 is the #1 Benchmark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Spinny's inventory model but at 2× revenue scale. Monitor their dealer auction pricing and NBFC loan conversion to close the gap.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86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CarDekho owns awareness, Spinny must win consideration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monthly users research on CarDekho before buying. Spinny needs SEO presence at the "research" phase, not just the "buy" phase.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30428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86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CarWale's 37.3K shared keyword gap = Spinny opportunity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Keywords data shows 6.16M search volume untapped. Spinny should target CarWale's pricing/comparison keywords with structured content.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319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Spinny's edge: Curation + Cost Discipline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301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loss reduction in FY25 vs CARS24's growing losses signals Spinny's strongest IPO narrative — lean unit economics and certified quality.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23697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319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IPO race is real — all 3 competitors are prepping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301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trio plans $1B+ combined raises. Spinny's $170M raise at $1.7–1.8B valuation and narrowing losses position it as the most credible IPO story.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Microsoft Macintosh PowerPoint</Application>
  <PresentationFormat>On-screen Show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Spinny.com — Top 3 Market Competitors</dc:title>
  <dc:subject>PptxGenJS Presentation</dc:subject>
  <dc:creator>PptxGenJS</dc:creator>
  <cp:lastModifiedBy>nair Jithendran</cp:lastModifiedBy>
  <cp:revision>1</cp:revision>
  <dcterms:created xsi:type="dcterms:W3CDTF">2026-06-25T20:23:19Z</dcterms:created>
  <dcterms:modified xsi:type="dcterms:W3CDTF">2026-06-30T07:30:51Z</dcterms:modified>
</cp:coreProperties>
</file>
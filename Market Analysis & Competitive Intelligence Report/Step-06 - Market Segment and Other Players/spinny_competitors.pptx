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16"/>
    <p:sldId id="266" r:id="rId17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Revenue Growth (₹ Cr)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3400</c:v>
                </c:pt>
                <c:pt idx="1">
                  <c:v>5600</c:v>
                </c:pt>
                <c:pt idx="2">
                  <c:v>6917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3F-8A4B-9BE4-B3F37A632F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Net Loss (₹ Cr) — Losses persisting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Loss (₹ Cr)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520</c:v>
                </c:pt>
                <c:pt idx="1">
                  <c:v>468</c:v>
                </c:pt>
                <c:pt idx="2">
                  <c:v>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13-D44F-90B0-BDECAEF0E5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Estimated Revenue Mix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F0E-9446-9009-96CFFD76D882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0E-9446-9009-96CFFD76D882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0E-9446-9009-96CFFD76D882}"/>
              </c:ext>
            </c:extLst>
          </c:dPt>
          <c:dPt>
            <c:idx val="3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F0E-9446-9009-96CFFD76D88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F0E-9446-9009-96CFFD76D88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F0E-9446-9009-96CFFD76D88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F0E-9446-9009-96CFFD76D88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F0E-9446-9009-96CFFD76D88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Advertising</c:v>
                </c:pt>
                <c:pt idx="1">
                  <c:v>Lead Generation</c:v>
                </c:pt>
                <c:pt idx="2">
                  <c:v>Insurance &amp; Finance</c:v>
                </c:pt>
                <c:pt idx="3">
                  <c:v>Other Services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F0E-9446-9009-96CFFD76D8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Monthly Active Users (Millions)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Active Users (M)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4E7-3046-9D56-67BF08AB889F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E7-3046-9D56-67BF08AB889F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4E7-3046-9D56-67BF08AB889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CarWale+BikeWale
(Sep 2025)</c:v>
                </c:pt>
                <c:pt idx="1">
                  <c:v>CarDekho
(est.)</c:v>
                </c:pt>
                <c:pt idx="2">
                  <c:v>Spinny
(est.)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</c:v>
                </c:pt>
                <c:pt idx="1">
                  <c:v>50</c:v>
                </c:pt>
                <c:pt idx="2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4E7-3046-9D56-67BF08AB88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Revenue Growth YoY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 YoY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822-3940-BD94-208E61F01402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22-3940-BD94-208E61F01402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22-3940-BD94-208E61F0140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Q2 FY26
Revenue Growth</c:v>
                </c:pt>
                <c:pt idx="1">
                  <c:v>CarDekho
FY25</c:v>
                </c:pt>
                <c:pt idx="2">
                  <c:v>CARS24
FY24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24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822-3940-BD94-208E61F014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01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3200400" cy="32004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Market Competitors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spinny.com — Competitive Intelligence Report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Semrush, Tracxn, Similarweb, Dealroom, PitchBook &amp; Industry Reports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017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cars24.com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858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87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SEO Competitor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29260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3017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3493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cardekho.com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3858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Giant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4187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SEO Competitor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292608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30175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3493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carwale.com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0" y="3858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Authority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4187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SEO Competitor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cars24.com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 — Full-Stack Automotive Commerce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$1.08B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₹6,917Cr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~18.8M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Visits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$3.3B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Valuation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" y="271576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700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C2B: Sellers → AI auction → 20,000+ dealer network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" y="302666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809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B2C: CARS24-certified inventory sold direct to buyers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" y="333756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arm (CARS24 Financial Services): ₹6,200Cr loan book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" y="36484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02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embedded at checkout (~38% attachment rate)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" y="395935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eChallan, driver hire &amp; EV battery diagnostics (2025)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82312" y="271576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6700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140-point AI-assisted inspection per vehicle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82312" y="302666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9809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Refurbished ~220K units in FY25 (throughput +30%)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82312" y="333756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return policy; &lt;1.5% return rate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82312" y="364845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602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payout via Seller Kavach protection policy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82312" y="395935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prep in progress for 2026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oundRect">
            <a:avLst>
              <a:gd name="adj" fmla="val 15385"/>
            </a:avLst>
          </a:prstGeom>
          <a:solidFill>
            <a:srgbClr val="2D1B1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4626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Threat to Spinny: Dominates both organic &amp; paid keyword lists; 20,000+ dealer network gives unmatched price discovery via live auction. #1 organic &amp; paid competitor.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cars24.com — Financial &amp; Operational Snapshot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2015  |  Gurugram  |  Unicorn since 2020  |  ~4,618 employees (Aug 2025)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9728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09728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320040" y="38404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Investors: DST Global · SoftBank · Alpha Wave Global · Tencent · Falcon Edge Capital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20040" y="4251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cars24  vs  Spinny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20040" y="46177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(FY24)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017520" y="46177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₹6,917 Cr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760720" y="46177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₹3,725 Cr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0040" y="477316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 (FY24)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017520" y="477316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₹498 Cr ↑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760720" y="477316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₹590 Cr ↓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20040" y="49286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Raised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017520" y="49286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$1.08B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760720" y="49286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$170M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20040" y="44439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017520" y="44439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CARS24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760720" y="44439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cardekho.com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Discovery Giant — India's Largest Automotive Media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$501M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₹2,795Cr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Unique Visitors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(2024)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" y="271576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700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+ rich content portal (not an inventory holder)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" y="302666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809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Advertising: OEMs &amp; dealers promote on platform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" y="3337560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generation: connects buyers to dealers (commission)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" y="364845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02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financing referral commissions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" y="395935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International: Indonesia (oto.com), Philippines (carmudi.com.ph)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82312" y="271576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6700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"Feel The Car" tool with sounds &amp; feature videos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82312" y="302666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9809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 YouTube subscribers — largest auto video platform in India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82312" y="3337560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Gaadi Stores (sell) + Trust Mark Stores (buy) offline network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82312" y="364845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602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 Mall, Jaipur — one of India's largest used-car showrooms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82312" y="395935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warranty + 7-day money-back on certified cars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oundRect">
            <a:avLst>
              <a:gd name="adj" fmla="val 15385"/>
            </a:avLst>
          </a:prstGeom>
          <a:solidFill>
            <a:srgbClr val="2D1F0D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4626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Threat to Spinny: Top-of-funnel content dominance (50M monthly users) shapes buyer intent before they reach Spinny. CarDekho captures research-phase traffic Spinny cannot easily displace.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cardekho.com — Platform Portfolio &amp;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2008  |  Jaipur  |  GirnarSoft parent  |  ~2,381 employees  |  Unicorn 2021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Portfolio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— buy/sell/research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536192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BikeDekho.com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Two-wheelers marketplace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1536192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ZigWheels.com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specifications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96312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2587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Gaadi.com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2935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classifieds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2496312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54680" y="2587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PowerDrift.com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54680" y="2935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video content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2496312"/>
            <a:ext cx="26517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9320" y="2587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oto.com (ID)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89320" y="29352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auto portal</a:t>
            </a:r>
            <a:endParaRPr lang="en-US" sz="10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320040" y="3520440"/>
          <a:ext cx="438912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4892040" y="35204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029200" y="3611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Pipeline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029200" y="40050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raise: $500M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valuation: $2.0–2.5B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(~2× 2021 unicorn valuation of $1.2B)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DRHP filing targeted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carwale.com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Pricing Authority — Part of Listed CarTrade Tech (NSE: CARTRADE)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$143.6M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(2026)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65M+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Served/Yr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170432"/>
            <a:ext cx="1965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32–35%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1673352"/>
            <a:ext cx="19659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Growth Q2 FY26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" y="271576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700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marketplace/classifieds — does NOT hold inventory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" y="302666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809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fees from dealers &amp; individuals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" y="333756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advertising (Tata, Hyundai, Maruti, MG)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" y="364845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02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commissions via bank partnerships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" y="39593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referral commissions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82312" y="271576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6700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most authoritative source for new car pricing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82312" y="302666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9809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400K+ pages of reviews, road tests, comparisons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82312" y="333756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291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CarWale abSure: 100+ certified used-car outlets, 29 geographies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82312" y="364845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602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 residual value insights — tracks inventory turnover data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82312" y="39593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CarTrade Tech is publicly listed — full transparency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oundRect">
            <a:avLst>
              <a:gd name="adj" fmla="val 15385"/>
            </a:avLst>
          </a:prstGeom>
          <a:solidFill>
            <a:srgbClr val="0D2018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4626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Threat to Spinny: 57M MAUs and OEM-level relationships mean CarWale shapes new-car buyer journeys that convert to used-car searches. Competes heavily for shared organic keywords with Spinny.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carwale.com — Traffic, Revenue &amp; Positioning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2005  |  Navi Mumbai  |  Owned by CarTrade Tech (listed)  |  ~1,150 employees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9728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09728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3822192"/>
            <a:ext cx="85039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Publicly listed parent (CarTrade Tech)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383280" y="3858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transparency gives institutional investor confidence — and IPO-ready discipline.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0040" y="4242816"/>
            <a:ext cx="85039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OEM relationships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83280" y="4279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directly with Tata, Hyundai, Maruti, MG — sits at the research entry point of the car buying funnel.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4663440"/>
            <a:ext cx="850392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" y="4700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abSure physical network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83280" y="47000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outlets across 29 geographies creating offline touchpoints that complement digital reach.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Head-to-Head: Top 3 vs Spinny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 across key dimensions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" y="1078992"/>
            <a:ext cx="18745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1155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078992"/>
            <a:ext cx="1691640" cy="384048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115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1078992"/>
            <a:ext cx="1691640" cy="384048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115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078992"/>
            <a:ext cx="1691640" cy="384048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115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CarWale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078992"/>
            <a:ext cx="1691640" cy="384048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115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1490472"/>
            <a:ext cx="18745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1517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1490472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15179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86200" y="1490472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5179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1490472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5179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1490472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5179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7160" y="1883664"/>
            <a:ext cx="187452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19110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Type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03120" y="1883664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1911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C2B + B2C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86200" y="1883664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1911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1883664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1911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1883664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1911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Curated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37160" y="2276856"/>
            <a:ext cx="18745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2304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Traffic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03120" y="2276856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23042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86200" y="2276856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23042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~50M uniq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0" y="2276856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3042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~57M MAU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06640" y="2276856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23042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~4.1M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37160" y="2670048"/>
            <a:ext cx="187452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2697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(latest)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103120" y="2670048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48840" y="26974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₹6,917Cr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886200" y="2670048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31920" y="26974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₹2,795Cr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0" y="2670048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26974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$143.6M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06640" y="2670048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2360" y="26974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₹4,657Cr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37160" y="3063240"/>
            <a:ext cx="18745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" y="30906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103120" y="3063240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48840" y="30906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$1.08B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886200" y="3063240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31920" y="30906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$501M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669280" y="3063240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15000" y="30906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$5.85M*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406640" y="3063240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52360" y="30906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$170M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37160" y="3456432"/>
            <a:ext cx="187452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2880" y="34838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Inventory?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103120" y="3456432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48840" y="3483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886200" y="3456432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31920" y="3483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669280" y="3456432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15000" y="3483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406640" y="3456432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52360" y="3483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37160" y="3849624"/>
            <a:ext cx="18745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82880" y="3877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Authority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103120" y="3849624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48840" y="38770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886200" y="3849624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0" y="38770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669280" y="3849624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15000" y="38770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406640" y="3849624"/>
            <a:ext cx="16916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52360" y="38770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37160" y="4242816"/>
            <a:ext cx="187452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82880" y="42702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Status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103120" y="4242816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48840" y="42702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prep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886200" y="4242816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931920" y="42702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prep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5669280" y="4242816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715000" y="42702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✓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406640" y="4242816"/>
            <a:ext cx="16916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452360" y="42702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talks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137160" y="4864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CarWale is now fully owned by listed CarTrade Tech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Implications for Spinny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competitor data means for Spinny's roadmap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53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CARS24 is the #1 Benchmark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Spinny's inventory model but at 2× revenue scale. Monitor their dealer auction pricing and NBFC loan conversion to close the gap.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386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CarDekho owns awareness, Spinny must win consideration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 monthly users research on CarDekho before buying. Spinny needs SEO presence at the "research" phase, not just the "buy" phase.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304288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386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CarWale's 37.3K shared keyword gap = Spinny opportunity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697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Keywords data shows 6.16M search volume untapped. Spinny should target CarWale's pricing/comparison keywords with structured content.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36976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3192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Spinny's edge: Curation + Cost Discipline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6301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loss reduction in FY25 vs CARS24's growing losses signals Spinny's strongest IPO narrative — lean unit economics and certified quality.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3236976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3192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IPO race is real — all 3 competitors are prepping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6301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trio plans $1B+ combined raises. Spinny's $170M raise at $1.7–1.8B valuation and narrowing losses position it as the most credible IPO story.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 and Other Players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online used-car marketplace — segment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86309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Segment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7955280" cy="136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online used-car marketplace sits within a broader pre-owned vehicle market processing roughly 6 million transactions annually, of which only about a fifth flow through organized digital platforms — the rest still move through traditional dealers and informal networks, with the organized segment expanding from 18% in FY17 toward a projected 45% by FY25. This formalization, driven by rising disposable incomes and demand for trust and transparency, has created space for several well-funded, technology-led players. Spinny competes in this segment alongside Cars24, CarDekho, and CarWale, each pursuing a distinct model to capture buyer trust.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143250"/>
            <a:ext cx="8412480" cy="186309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323469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Spinny’s Positioning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554730"/>
            <a:ext cx="7955280" cy="136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 positions itself as a quality- and trust-first used-car retailer built on a purely inventory-led, direct-to-consumer model: every car listed is purchased and owned by the platform itself before being offered to buyers, with no third-party or individual seller listings. Cars sourced this way go through a 200-point inspection focused on mechanical, structural, and cosmetic condition, sold under the Spinny Assured and Spinny Assured+ tiers at fixed, non-negotiable prices. This creates a consistent, standardized buying experience, though it comes at the cost of a comparatively smaller inventory and higher price points than marketplace-style competitors.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9496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 vs. Cars24, CarDekho &amp; CarWale — positioning at a glance</a:t>
            </a:r>
            <a:endParaRPr lang="en-US" sz="105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182880" y="960120"/>
          <a:ext cx="8778240" cy="39319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37360"/>
                <a:gridCol w="2926080"/>
                <a:gridCol w="4114800"/>
              </a:tblGrid>
              <a:tr h="411480"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Company</a:t>
                      </a:r>
                    </a:p>
                  </a:txBody>
                  <a:tcPr marL="91440" marR="91440" marT="45720" marB="45720" anchor="ctr">
                    <a:solidFill>
                      <a:srgbClr val="1E3A5F"/>
                    </a:solidFill>
                    <a:lnB w="1270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Positioning</a:t>
                      </a:r>
                    </a:p>
                  </a:txBody>
                  <a:tcPr marL="91440" marR="91440" marT="45720" marB="45720" anchor="ctr">
                    <a:solidFill>
                      <a:srgbClr val="1E3A5F"/>
                    </a:solidFill>
                    <a:lnB w="1270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Key Difference</a:t>
                      </a:r>
                    </a:p>
                  </a:txBody>
                  <a:tcPr marL="91440" marR="91440" marT="45720" marB="45720" anchor="ctr">
                    <a:solidFill>
                      <a:srgbClr val="1E3A5F"/>
                    </a:solidFill>
                    <a:lnB w="12700">
                      <a:solidFill>
                        <a:srgbClr val="334155"/>
                      </a:solidFill>
                    </a:lnB>
                  </a:tcPr>
                </a:tc>
              </a:tr>
              <a:tr h="880110"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</a:rPr>
                        <a:t>Spinny.com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850" i="1" dirty="0">
                          <a:solidFill>
                            <a:srgbClr val="94A3B8"/>
                          </a:solidFill>
                          <a:latin typeface="Calibri" pitchFamily="34" charset="0"/>
                        </a:rPr>
                        <a:t>(Focal Company)</a:t>
                      </a:r>
                    </a:p>
                  </a:txBody>
                  <a:tcPr marL="91440" marR="91440" marT="45720" marB="45720" anchor="ctr">
                    <a:solidFill>
                      <a:srgbClr val="10B981">
                        <a:alpha val="10000"/>
                      </a:srgbClr>
                    </a:solidFill>
                    <a:lnB w="635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lnSpc>
                          <a:spcPct val="105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</a:rPr>
                        <a:t>Trust-first, inventory-owned D2C retailer offering standardized, inspected used cars at fixed prices.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  <a:lnB w="635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lnSpc>
                          <a:spcPct val="105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</a:rPr>
                        <a:t>Baseline for comparison — controls the full car lifecycle (sourcing, inspection, refurbishment, sale) but carries higher inventory costs and a narrower selection.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  <a:lnB w="6350">
                      <a:solidFill>
                        <a:srgbClr val="334155"/>
                      </a:solidFill>
                    </a:lnB>
                  </a:tcPr>
                </a:tc>
              </a:tr>
              <a:tr h="880110"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</a:rPr>
                        <a:t>Cars24.com</a:t>
                      </a:r>
                    </a:p>
                  </a:txBody>
                  <a:tcPr marL="91440" marR="91440" marT="45720" marB="45720" anchor="ctr">
                    <a:solidFill>
                      <a:srgbClr val="162032"/>
                    </a:solidFill>
                    <a:lnB w="635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lnSpc>
                          <a:spcPct val="105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</a:rPr>
                        <a:t>Scale-focused hybrid platform combining owned inventory with a verified third-party marketplace.</a:t>
                      </a:r>
                    </a:p>
                  </a:txBody>
                  <a:tcPr marL="91440" marR="91440" marT="45720" marB="45720" anchor="ctr">
                    <a:solidFill>
                      <a:srgbClr val="162032"/>
                    </a:solidFill>
                    <a:lnB w="635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lnSpc>
                          <a:spcPct val="105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</a:rPr>
                        <a:t>Runs a hybrid D2C-plus-marketplace model, giving buyers a much larger and more varied inventory pool than Spinny’s pure D2C approach, alongside allied services like financing and vehicle scrapping.</a:t>
                      </a:r>
                    </a:p>
                  </a:txBody>
                  <a:tcPr marL="91440" marR="91440" marT="45720" marB="45720" anchor="ctr">
                    <a:solidFill>
                      <a:srgbClr val="162032"/>
                    </a:solidFill>
                    <a:lnB w="6350">
                      <a:solidFill>
                        <a:srgbClr val="334155"/>
                      </a:solidFill>
                    </a:lnB>
                  </a:tcPr>
                </a:tc>
              </a:tr>
              <a:tr h="880110"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</a:rPr>
                        <a:t>CarDekho.com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  <a:lnB w="635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lnSpc>
                          <a:spcPct val="105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</a:rPr>
                        <a:t>Research-and-discovery-led automotive portal that also facilitates transactions.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  <a:lnB w="6350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lnSpc>
                          <a:spcPct val="105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</a:rPr>
                        <a:t>Originated as a content, reviews, and price-comparison destination rather than an inventory owner; primarily connects buyers to dealer listings and offers valuation tools rather than owning and reselling cars directly like Spinny.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  <a:lnB w="6350">
                      <a:solidFill>
                        <a:srgbClr val="334155"/>
                      </a:solidFill>
                    </a:lnB>
                  </a:tcPr>
                </a:tc>
              </a:tr>
              <a:tr h="880110"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</a:rPr>
                        <a:t>CarWale.com</a:t>
                      </a:r>
                    </a:p>
                  </a:txBody>
                  <a:tcPr marL="91440" marR="91440" marT="45720" marB="45720" anchor="ctr">
                    <a:solidFill>
                      <a:srgbClr val="162032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lnSpc>
                          <a:spcPct val="105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</a:rPr>
                        <a:t>Automotive information and listings site (part of the CarTrade Tech group).</a:t>
                      </a:r>
                    </a:p>
                  </a:txBody>
                  <a:tcPr marL="91440" marR="91440" marT="45720" marB="45720" anchor="ctr">
                    <a:solidFill>
                      <a:srgbClr val="162032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marL="0" indent="0">
                        <a:lnSpc>
                          <a:spcPct val="105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</a:rPr>
                        <a:t>Functions mainly as a classifieds and research platform aggregating dealer and individual listings, rather than an owned-inventory retailer; its role is closer to discovery and lead generation than end-to-end transaction ownership.</a:t>
                      </a:r>
                    </a:p>
                  </a:txBody>
                  <a:tcPr marL="91440" marR="91440" marT="45720" marB="45720" anchor="ctr"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182880" y="493884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Spinny’s asset-heavy, quality-controlled model sits opposite CarDekho/CarWale’s asset-light approach, with Cars24 as the hybrid middle ground.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1118</Words>
  <Application>Microsoft Macintosh PowerPoint</Application>
  <PresentationFormat>On-screen Show (16:9)</PresentationFormat>
  <Paragraphs>206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Spinny.com — Top 3 Market Competitors</dc:title>
  <dc:subject>PptxGenJS Presentation</dc:subject>
  <dc:creator>PptxGenJS</dc:creator>
  <cp:lastModifiedBy>nair Jithendran</cp:lastModifiedBy>
  <cp:revision>1</cp:revision>
  <dcterms:created xsi:type="dcterms:W3CDTF">2026-06-25T20:23:19Z</dcterms:created>
  <dcterms:modified xsi:type="dcterms:W3CDTF">2026-06-30T07:30:51Z</dcterms:modified>
</cp:coreProperties>
</file>
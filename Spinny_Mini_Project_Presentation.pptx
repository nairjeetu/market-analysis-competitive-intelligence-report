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Revenue</c:v>
                </c:pt>
              </c:strCache>
            </c:strRef>
          </c:tx>
          <c:spPr>
            <a:solidFill>
              <a:srgbClr val="1E2761"/>
            </a:solidFill>
            <a:effectLst/>
          </c:spPr>
          <c:invertIfNegative val="0"/>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cat>
            <c:multiLvlStrRef>
              <c:f>Sheet1!$A$2:$A$3</c:f>
              <c:multiLvlStrCache>
                <c:ptCount val="2"/>
                <c:lvl>
                  <c:pt idx="0">
                    <c:v>FY24</c:v>
                  </c:pt>
                  <c:pt idx="1">
                    <c:v>FY25</c:v>
                  </c:pt>
                </c:lvl>
              </c:multiLvlStrCache>
            </c:multiLvlStrRef>
          </c:cat>
          <c:val>
            <c:numRef>
              <c:f>Sheet1!$B$2:$B$3</c:f>
              <c:numCache>
                <c:formatCode>General</c:formatCode>
                <c:ptCount val="2"/>
                <c:pt idx="0">
                  <c:v>3730</c:v>
                </c:pt>
                <c:pt idx="1">
                  <c:v>4656</c:v>
                </c:pt>
              </c:numCache>
            </c:numRef>
          </c:val>
        </c:ser>
        <c:ser>
          <c:idx val="1"/>
          <c:order val="1"/>
          <c:tx>
            <c:strRef>
              <c:f>Sheet1!$C$1</c:f>
              <c:strCache>
                <c:ptCount val="1"/>
                <c:pt idx="0">
                  <c:v>Net Loss</c:v>
                </c:pt>
              </c:strCache>
            </c:strRef>
          </c:tx>
          <c:spPr>
            <a:solidFill>
              <a:srgbClr val="D64541"/>
            </a:solidFill>
            <a:effectLst/>
          </c:spPr>
          <c:invertIfNegative val="0"/>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cat>
            <c:multiLvlStrRef>
              <c:f>Sheet1!$A$2:$A$3</c:f>
              <c:multiLvlStrCache>
                <c:ptCount val="2"/>
                <c:lvl>
                  <c:pt idx="0">
                    <c:v>FY24</c:v>
                  </c:pt>
                  <c:pt idx="1">
                    <c:v>FY25</c:v>
                  </c:pt>
                </c:lvl>
              </c:multiLvlStrCache>
            </c:multiLvlStrRef>
          </c:cat>
          <c:val>
            <c:numRef>
              <c:f>Sheet1!$C$2:$C$3</c:f>
              <c:numCache>
                <c:formatCode>General</c:formatCode>
                <c:ptCount val="2"/>
                <c:pt idx="0">
                  <c:v>590</c:v>
                </c:pt>
                <c:pt idx="1">
                  <c:v>424</c:v>
                </c:pt>
              </c:numCache>
            </c:numRef>
          </c:val>
        </c:ser>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A5A5A"/>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Monthly Visits (M)</c:v>
                </c:pt>
              </c:strCache>
            </c:strRef>
          </c:tx>
          <c:spPr>
            <a:solidFill>
              <a:srgbClr val="1E2761"/>
            </a:solidFill>
            <a:effectLst/>
          </c:spPr>
          <c:invertIfNegative val="0"/>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Spinny</c:v>
                  </c:pt>
                  <c:pt idx="1">
                    <c:v>Cars24</c:v>
                  </c:pt>
                  <c:pt idx="2">
                    <c:v>CarDekho</c:v>
                  </c:pt>
                </c:lvl>
              </c:multiLvlStrCache>
            </c:multiLvlStrRef>
          </c:cat>
          <c:val>
            <c:numRef>
              <c:f>Sheet1!$B$2:$B$4</c:f>
              <c:numCache>
                <c:formatCode>General</c:formatCode>
                <c:ptCount val="3"/>
                <c:pt idx="0">
                  <c:v>6.53</c:v>
                </c:pt>
                <c:pt idx="1">
                  <c:v>8.58</c:v>
                </c:pt>
                <c:pt idx="2">
                  <c:v>30.08</c:v>
                </c:pt>
              </c:numCache>
            </c:numRef>
          </c:val>
        </c:ser>
        <c:dLbls>
          <c:numFmt formatCode="#,##0" sourceLinked="0"/>
          <c:txPr>
            <a:bodyPr/>
            <a:lstStyle/>
            <a:p>
              <a:pPr>
                <a:defRPr b="0" i="0" strike="noStrike" sz="1000" u="none">
                  <a:solidFill>
                    <a:srgbClr val="1A1A1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A5A5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058400" y="4434840"/>
            <a:ext cx="384048" cy="822960"/>
          </a:xfrm>
          <a:prstGeom prst="rect">
            <a:avLst/>
          </a:prstGeom>
          <a:solidFill>
            <a:srgbClr val="CADCFC">
              <a:alpha val="45000"/>
            </a:srgbClr>
          </a:solidFill>
          <a:ln/>
        </p:spPr>
      </p:sp>
      <p:sp>
        <p:nvSpPr>
          <p:cNvPr id="3" name="Shape 1"/>
          <p:cNvSpPr/>
          <p:nvPr/>
        </p:nvSpPr>
        <p:spPr>
          <a:xfrm>
            <a:off x="10561320" y="4069080"/>
            <a:ext cx="384048" cy="1188720"/>
          </a:xfrm>
          <a:prstGeom prst="rect">
            <a:avLst/>
          </a:prstGeom>
          <a:solidFill>
            <a:srgbClr val="CADCFC">
              <a:alpha val="65000"/>
            </a:srgbClr>
          </a:solidFill>
          <a:ln/>
        </p:spPr>
      </p:sp>
      <p:sp>
        <p:nvSpPr>
          <p:cNvPr id="4" name="Shape 2"/>
          <p:cNvSpPr/>
          <p:nvPr/>
        </p:nvSpPr>
        <p:spPr>
          <a:xfrm>
            <a:off x="11064240" y="3657600"/>
            <a:ext cx="384048" cy="1600200"/>
          </a:xfrm>
          <a:prstGeom prst="rect">
            <a:avLst/>
          </a:prstGeom>
          <a:solidFill>
            <a:srgbClr val="CADCFC">
              <a:alpha val="85000"/>
            </a:srgbClr>
          </a:solidFill>
          <a:ln/>
        </p:spPr>
      </p:sp>
      <p:sp>
        <p:nvSpPr>
          <p:cNvPr id="5" name="Text 3"/>
          <p:cNvSpPr/>
          <p:nvPr/>
        </p:nvSpPr>
        <p:spPr>
          <a:xfrm>
            <a:off x="548640" y="1417320"/>
            <a:ext cx="9144000" cy="365760"/>
          </a:xfrm>
          <a:prstGeom prst="rect">
            <a:avLst/>
          </a:prstGeom>
          <a:noFill/>
          <a:ln/>
        </p:spPr>
        <p:txBody>
          <a:bodyPr wrap="square" lIns="0" tIns="0" rIns="0" bIns="0" rtlCol="0" anchor="ctr"/>
          <a:lstStyle/>
          <a:p>
            <a:pPr indent="0" marL="0">
              <a:buNone/>
            </a:pPr>
            <a:r>
              <a:rPr lang="en-US" sz="1250" b="1" spc="250" kern="0" dirty="0">
                <a:solidFill>
                  <a:srgbClr val="CADCFC"/>
                </a:solidFill>
                <a:latin typeface="Calibri" pitchFamily="34" charset="0"/>
                <a:ea typeface="Calibri" pitchFamily="34" charset="-122"/>
                <a:cs typeface="Calibri" pitchFamily="34" charset="-120"/>
              </a:rPr>
              <a:t>PRODUCT MANAGEMENT WITH AI  ·  BATCH 02  ·  MINI PROJECT</a:t>
            </a:r>
            <a:endParaRPr lang="en-US" sz="1250" dirty="0"/>
          </a:p>
        </p:txBody>
      </p:sp>
      <p:sp>
        <p:nvSpPr>
          <p:cNvPr id="6" name="Text 4"/>
          <p:cNvSpPr/>
          <p:nvPr/>
        </p:nvSpPr>
        <p:spPr>
          <a:xfrm>
            <a:off x="530352" y="1783080"/>
            <a:ext cx="9144000" cy="1188720"/>
          </a:xfrm>
          <a:prstGeom prst="rect">
            <a:avLst/>
          </a:prstGeom>
          <a:noFill/>
          <a:ln/>
        </p:spPr>
        <p:txBody>
          <a:bodyPr wrap="square" lIns="0" tIns="0" rIns="0" bIns="0"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Spinny</a:t>
            </a:r>
            <a:endParaRPr lang="en-US" sz="5800" dirty="0"/>
          </a:p>
        </p:txBody>
      </p:sp>
      <p:sp>
        <p:nvSpPr>
          <p:cNvPr id="7" name="Text 5"/>
          <p:cNvSpPr/>
          <p:nvPr/>
        </p:nvSpPr>
        <p:spPr>
          <a:xfrm>
            <a:off x="548640" y="2743200"/>
            <a:ext cx="9418320" cy="548640"/>
          </a:xfrm>
          <a:prstGeom prst="rect">
            <a:avLst/>
          </a:prstGeom>
          <a:noFill/>
          <a:ln/>
        </p:spPr>
        <p:txBody>
          <a:bodyPr wrap="square" lIns="0" tIns="0" rIns="0" bIns="0" rtlCol="0" anchor="ctr"/>
          <a:lstStyle/>
          <a:p>
            <a:pPr indent="0" marL="0">
              <a:buNone/>
            </a:pPr>
            <a:r>
              <a:rPr lang="en-US" sz="2100" b="1" dirty="0">
                <a:solidFill>
                  <a:srgbClr val="CADCFC"/>
                </a:solidFill>
                <a:latin typeface="Calibri" pitchFamily="34" charset="0"/>
                <a:ea typeface="Calibri" pitchFamily="34" charset="-122"/>
                <a:cs typeface="Calibri" pitchFamily="34" charset="-120"/>
              </a:rPr>
              <a:t>Market Analysis &amp; Competitive Intelligence Report</a:t>
            </a:r>
            <a:endParaRPr lang="en-US" sz="2100" dirty="0"/>
          </a:p>
        </p:txBody>
      </p:sp>
      <p:sp>
        <p:nvSpPr>
          <p:cNvPr id="8" name="Text 6"/>
          <p:cNvSpPr/>
          <p:nvPr/>
        </p:nvSpPr>
        <p:spPr>
          <a:xfrm>
            <a:off x="548640" y="3291840"/>
            <a:ext cx="8961120" cy="822960"/>
          </a:xfrm>
          <a:prstGeom prst="rect">
            <a:avLst/>
          </a:prstGeom>
          <a:noFill/>
          <a:ln/>
        </p:spPr>
        <p:txBody>
          <a:bodyPr wrap="square" lIns="0" tIns="0" rIns="0" bIns="0" rtlCol="0" anchor="ctr"/>
          <a:lstStyle/>
          <a:p>
            <a:pPr indent="0" marL="0">
              <a:lnSpc>
                <a:spcPct val="120000"/>
              </a:lnSpc>
              <a:buNone/>
            </a:pPr>
            <a:r>
              <a:rPr lang="en-US" sz="1250" dirty="0">
                <a:solidFill>
                  <a:srgbClr val="AEBBE8"/>
                </a:solidFill>
                <a:latin typeface="Calibri" pitchFamily="34" charset="0"/>
                <a:ea typeface="Calibri" pitchFamily="34" charset="-122"/>
                <a:cs typeface="Calibri" pitchFamily="34" charset="-120"/>
              </a:rPr>
              <a:t>Company overview, product strategy, digital strategy, market segment, strategic insights and product recommendations — built using AI-assisted digital intelligence research.</a:t>
            </a:r>
            <a:endParaRPr lang="en-US" sz="1250" dirty="0"/>
          </a:p>
        </p:txBody>
      </p:sp>
      <p:sp>
        <p:nvSpPr>
          <p:cNvPr id="9" name="Shape 7"/>
          <p:cNvSpPr/>
          <p:nvPr/>
        </p:nvSpPr>
        <p:spPr>
          <a:xfrm>
            <a:off x="548640" y="5394960"/>
            <a:ext cx="11064240" cy="0"/>
          </a:xfrm>
          <a:prstGeom prst="line">
            <a:avLst/>
          </a:prstGeom>
          <a:noFill/>
          <a:ln w="12700">
            <a:solidFill>
              <a:srgbClr val="3B4A8C"/>
            </a:solidFill>
            <a:prstDash val="solid"/>
          </a:ln>
        </p:spPr>
      </p:sp>
      <p:sp>
        <p:nvSpPr>
          <p:cNvPr id="10" name="Text 8"/>
          <p:cNvSpPr/>
          <p:nvPr/>
        </p:nvSpPr>
        <p:spPr>
          <a:xfrm>
            <a:off x="548640" y="5623560"/>
            <a:ext cx="10607040" cy="365760"/>
          </a:xfrm>
          <a:prstGeom prst="rect">
            <a:avLst/>
          </a:prstGeom>
          <a:noFill/>
          <a:ln/>
        </p:spPr>
        <p:txBody>
          <a:bodyPr wrap="square" lIns="0" tIns="0" rIns="0" bIns="0" rtlCol="0" anchor="ctr"/>
          <a:lstStyle/>
          <a:p>
            <a:pPr indent="0" marL="0">
              <a:buNone/>
            </a:pPr>
            <a:r>
              <a:rPr lang="en-US" sz="1100" dirty="0">
                <a:solidFill>
                  <a:srgbClr val="AEBBE8"/>
                </a:solidFill>
                <a:latin typeface="Calibri" pitchFamily="34" charset="0"/>
                <a:ea typeface="Calibri" pitchFamily="34" charset="-122"/>
                <a:cs typeface="Calibri" pitchFamily="34" charset="-120"/>
              </a:rPr>
              <a:t>Company studied: Valuedrive Technologies Pvt. Ltd. (“Spinny”)  ·  Full-stack used-car retail &amp; automotive lifecycle platform, India</a:t>
            </a:r>
            <a:endParaRPr lang="en-US" sz="1100" dirty="0"/>
          </a:p>
        </p:txBody>
      </p:sp>
      <p:sp>
        <p:nvSpPr>
          <p:cNvPr id="11" name="Text 9"/>
          <p:cNvSpPr/>
          <p:nvPr/>
        </p:nvSpPr>
        <p:spPr>
          <a:xfrm>
            <a:off x="548640" y="608076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C"/>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8891B5"/>
                </a:solidFill>
                <a:latin typeface="Calibri" pitchFamily="34" charset="0"/>
                <a:ea typeface="Calibri" pitchFamily="34" charset="-122"/>
                <a:cs typeface="Calibri" pitchFamily="34" charset="-120"/>
              </a:rPr>
              <a:t>COMPANY OVERVIEW</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600" b="1" dirty="0">
                <a:solidFill>
                  <a:srgbClr val="1E2761"/>
                </a:solidFill>
                <a:latin typeface="Calibri" pitchFamily="34" charset="0"/>
                <a:ea typeface="Calibri" pitchFamily="34" charset="-122"/>
                <a:cs typeface="Calibri" pitchFamily="34" charset="-120"/>
              </a:rPr>
              <a:t>Spinny’s IPO window is opening now — because the losses are finally shrinking, not because the model has changed.</a:t>
            </a:r>
            <a:endParaRPr lang="en-US" sz="2600" dirty="0"/>
          </a:p>
        </p:txBody>
      </p:sp>
      <p:sp>
        <p:nvSpPr>
          <p:cNvPr id="4" name="Text 2"/>
          <p:cNvSpPr/>
          <p:nvPr/>
        </p:nvSpPr>
        <p:spPr>
          <a:xfrm>
            <a:off x="548640" y="2011680"/>
            <a:ext cx="182880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Founded</a:t>
            </a:r>
            <a:endParaRPr lang="en-US" sz="1050" dirty="0"/>
          </a:p>
        </p:txBody>
      </p:sp>
      <p:sp>
        <p:nvSpPr>
          <p:cNvPr id="5" name="Text 3"/>
          <p:cNvSpPr/>
          <p:nvPr/>
        </p:nvSpPr>
        <p:spPr>
          <a:xfrm>
            <a:off x="2423160" y="2011680"/>
            <a:ext cx="3657600" cy="32004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2015 · Niraj Singh, Ramanshu Mahaur + 2 co-founders</a:t>
            </a:r>
            <a:endParaRPr lang="en-US" sz="1000" dirty="0"/>
          </a:p>
        </p:txBody>
      </p:sp>
      <p:sp>
        <p:nvSpPr>
          <p:cNvPr id="6" name="Text 4"/>
          <p:cNvSpPr/>
          <p:nvPr/>
        </p:nvSpPr>
        <p:spPr>
          <a:xfrm>
            <a:off x="548640" y="2395728"/>
            <a:ext cx="182880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Business model</a:t>
            </a:r>
            <a:endParaRPr lang="en-US" sz="1050" dirty="0"/>
          </a:p>
        </p:txBody>
      </p:sp>
      <p:sp>
        <p:nvSpPr>
          <p:cNvPr id="7" name="Text 5"/>
          <p:cNvSpPr/>
          <p:nvPr/>
        </p:nvSpPr>
        <p:spPr>
          <a:xfrm>
            <a:off x="2423160" y="2395728"/>
            <a:ext cx="3657600" cy="32004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Full-stack retailer — owns, inspects &amp; resells inventory</a:t>
            </a:r>
            <a:endParaRPr lang="en-US" sz="1000" dirty="0"/>
          </a:p>
        </p:txBody>
      </p:sp>
      <p:sp>
        <p:nvSpPr>
          <p:cNvPr id="8" name="Text 6"/>
          <p:cNvSpPr/>
          <p:nvPr/>
        </p:nvSpPr>
        <p:spPr>
          <a:xfrm>
            <a:off x="548640" y="2779776"/>
            <a:ext cx="182880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Funding</a:t>
            </a:r>
            <a:endParaRPr lang="en-US" sz="1050" dirty="0"/>
          </a:p>
        </p:txBody>
      </p:sp>
      <p:sp>
        <p:nvSpPr>
          <p:cNvPr id="9" name="Text 7"/>
          <p:cNvSpPr/>
          <p:nvPr/>
        </p:nvSpPr>
        <p:spPr>
          <a:xfrm>
            <a:off x="2423160" y="2779776"/>
            <a:ext cx="3657600" cy="32004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~$700M+ raised · ~$1.8B valuation · IPO in prep</a:t>
            </a:r>
            <a:endParaRPr lang="en-US" sz="1000" dirty="0"/>
          </a:p>
        </p:txBody>
      </p:sp>
      <p:sp>
        <p:nvSpPr>
          <p:cNvPr id="10" name="Text 8"/>
          <p:cNvSpPr/>
          <p:nvPr/>
        </p:nvSpPr>
        <p:spPr>
          <a:xfrm>
            <a:off x="548640" y="3163824"/>
            <a:ext cx="182880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Geography &amp; customers</a:t>
            </a:r>
            <a:endParaRPr lang="en-US" sz="1050" dirty="0"/>
          </a:p>
        </p:txBody>
      </p:sp>
      <p:sp>
        <p:nvSpPr>
          <p:cNvPr id="11" name="Text 9"/>
          <p:cNvSpPr/>
          <p:nvPr/>
        </p:nvSpPr>
        <p:spPr>
          <a:xfrm>
            <a:off x="2423160" y="3163824"/>
            <a:ext cx="3657600" cy="320040"/>
          </a:xfrm>
          <a:prstGeom prst="rect">
            <a:avLst/>
          </a:prstGeom>
          <a:noFill/>
          <a:ln/>
        </p:spPr>
        <p:txBody>
          <a:bodyPr wrap="square" lIns="0" tIns="0" rIns="0" bIns="0" rtlCol="0" anchor="ctr"/>
          <a:lstStyle/>
          <a:p>
            <a:pPr indent="0" marL="0">
              <a:buNone/>
            </a:pPr>
            <a:r>
              <a:rPr lang="en-US" sz="1000" dirty="0">
                <a:solidFill>
                  <a:srgbClr val="5A5A5A"/>
                </a:solidFill>
                <a:latin typeface="Calibri" pitchFamily="34" charset="0"/>
                <a:ea typeface="Calibri" pitchFamily="34" charset="-122"/>
                <a:cs typeface="Calibri" pitchFamily="34" charset="-120"/>
              </a:rPr>
              <a:t>~22 cities, India · first-time buyers, upgraders, EV-curious</a:t>
            </a:r>
            <a:endParaRPr lang="en-US" sz="1000" dirty="0"/>
          </a:p>
        </p:txBody>
      </p:sp>
      <p:sp>
        <p:nvSpPr>
          <p:cNvPr id="12" name="Shape 10"/>
          <p:cNvSpPr/>
          <p:nvPr/>
        </p:nvSpPr>
        <p:spPr>
          <a:xfrm>
            <a:off x="548640" y="3794760"/>
            <a:ext cx="2834640" cy="1417320"/>
          </a:xfrm>
          <a:prstGeom prst="roundRect">
            <a:avLst>
              <a:gd name="adj" fmla="val 5161"/>
            </a:avLst>
          </a:prstGeom>
          <a:solidFill>
            <a:srgbClr val="FFFFFF"/>
          </a:solidFill>
          <a:ln/>
          <a:effectLst>
            <a:outerShdw sx="100000" sy="100000" kx="0" ky="0" algn="bl" rotWithShape="0" blurRad="127000" dist="38100" dir="2700000">
              <a:srgbClr val="1E2761">
                <a:alpha val="12000"/>
              </a:srgbClr>
            </a:outerShdw>
          </a:effectLst>
        </p:spPr>
      </p:sp>
      <p:sp>
        <p:nvSpPr>
          <p:cNvPr id="13" name="Text 11"/>
          <p:cNvSpPr/>
          <p:nvPr/>
        </p:nvSpPr>
        <p:spPr>
          <a:xfrm>
            <a:off x="548640" y="3904488"/>
            <a:ext cx="2834640" cy="640080"/>
          </a:xfrm>
          <a:prstGeom prst="rect">
            <a:avLst/>
          </a:prstGeom>
          <a:noFill/>
          <a:ln/>
        </p:spPr>
        <p:txBody>
          <a:bodyPr wrap="square" lIns="0" tIns="0" rIns="0" bIns="0" rtlCol="0" anchor="ctr"/>
          <a:lstStyle/>
          <a:p>
            <a:pPr algn="ctr" indent="0" marL="0">
              <a:buNone/>
            </a:pPr>
            <a:r>
              <a:rPr lang="en-US" sz="3000" b="1" dirty="0">
                <a:solidFill>
                  <a:srgbClr val="1E8F6F"/>
                </a:solidFill>
                <a:latin typeface="Calibri" pitchFamily="34" charset="0"/>
                <a:ea typeface="Calibri" pitchFamily="34" charset="-122"/>
                <a:cs typeface="Calibri" pitchFamily="34" charset="-120"/>
              </a:rPr>
              <a:t>+25%</a:t>
            </a:r>
            <a:endParaRPr lang="en-US" sz="3000" dirty="0"/>
          </a:p>
        </p:txBody>
      </p:sp>
      <p:sp>
        <p:nvSpPr>
          <p:cNvPr id="14" name="Text 12"/>
          <p:cNvSpPr/>
          <p:nvPr/>
        </p:nvSpPr>
        <p:spPr>
          <a:xfrm>
            <a:off x="685800" y="4581144"/>
            <a:ext cx="2560320" cy="54864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FY25 revenue growth</a:t>
            </a:r>
            <a:endParaRPr lang="en-US" sz="1050" dirty="0"/>
          </a:p>
        </p:txBody>
      </p:sp>
      <p:sp>
        <p:nvSpPr>
          <p:cNvPr id="15" name="Shape 13"/>
          <p:cNvSpPr/>
          <p:nvPr/>
        </p:nvSpPr>
        <p:spPr>
          <a:xfrm>
            <a:off x="3657600" y="3794760"/>
            <a:ext cx="2834640" cy="1417320"/>
          </a:xfrm>
          <a:prstGeom prst="roundRect">
            <a:avLst>
              <a:gd name="adj" fmla="val 5161"/>
            </a:avLst>
          </a:prstGeom>
          <a:solidFill>
            <a:srgbClr val="FFFFFF"/>
          </a:solidFill>
          <a:ln/>
          <a:effectLst>
            <a:outerShdw sx="100000" sy="100000" kx="0" ky="0" algn="bl" rotWithShape="0" blurRad="127000" dist="38100" dir="2700000">
              <a:srgbClr val="1E2761">
                <a:alpha val="12000"/>
              </a:srgbClr>
            </a:outerShdw>
          </a:effectLst>
        </p:spPr>
      </p:sp>
      <p:sp>
        <p:nvSpPr>
          <p:cNvPr id="16" name="Text 14"/>
          <p:cNvSpPr/>
          <p:nvPr/>
        </p:nvSpPr>
        <p:spPr>
          <a:xfrm>
            <a:off x="3657600" y="3904488"/>
            <a:ext cx="2834640" cy="640080"/>
          </a:xfrm>
          <a:prstGeom prst="rect">
            <a:avLst/>
          </a:prstGeom>
          <a:noFill/>
          <a:ln/>
        </p:spPr>
        <p:txBody>
          <a:bodyPr wrap="square" lIns="0" tIns="0" rIns="0" bIns="0" rtlCol="0" anchor="ctr"/>
          <a:lstStyle/>
          <a:p>
            <a:pPr algn="ctr" indent="0" marL="0">
              <a:buNone/>
            </a:pPr>
            <a:r>
              <a:rPr lang="en-US" sz="3000" b="1" dirty="0">
                <a:solidFill>
                  <a:srgbClr val="D64541"/>
                </a:solidFill>
                <a:latin typeface="Calibri" pitchFamily="34" charset="0"/>
                <a:ea typeface="Calibri" pitchFamily="34" charset="-122"/>
                <a:cs typeface="Calibri" pitchFamily="34" charset="-120"/>
              </a:rPr>
              <a:t>−28%</a:t>
            </a:r>
            <a:endParaRPr lang="en-US" sz="3000" dirty="0"/>
          </a:p>
        </p:txBody>
      </p:sp>
      <p:sp>
        <p:nvSpPr>
          <p:cNvPr id="17" name="Text 15"/>
          <p:cNvSpPr/>
          <p:nvPr/>
        </p:nvSpPr>
        <p:spPr>
          <a:xfrm>
            <a:off x="3794760" y="4581144"/>
            <a:ext cx="2560320" cy="548640"/>
          </a:xfrm>
          <a:prstGeom prst="rect">
            <a:avLst/>
          </a:prstGeom>
          <a:noFill/>
          <a:ln/>
        </p:spPr>
        <p:txBody>
          <a:bodyPr wrap="square" lIns="0" tIns="0" rIns="0" bIns="0" rtlCol="0" anchor="ctr"/>
          <a:lstStyle/>
          <a:p>
            <a:pPr algn="ctr" indent="0" marL="0">
              <a:buNone/>
            </a:pPr>
            <a:r>
              <a:rPr lang="en-US" sz="1050" dirty="0">
                <a:solidFill>
                  <a:srgbClr val="5A5A5A"/>
                </a:solidFill>
                <a:latin typeface="Calibri" pitchFamily="34" charset="0"/>
                <a:ea typeface="Calibri" pitchFamily="34" charset="-122"/>
                <a:cs typeface="Calibri" pitchFamily="34" charset="-120"/>
              </a:rPr>
              <a:t>FY25 net loss narrowed</a:t>
            </a:r>
            <a:endParaRPr lang="en-US" sz="1050" dirty="0"/>
          </a:p>
        </p:txBody>
      </p:sp>
      <p:sp>
        <p:nvSpPr>
          <p:cNvPr id="18" name="Shape 16"/>
          <p:cNvSpPr/>
          <p:nvPr/>
        </p:nvSpPr>
        <p:spPr>
          <a:xfrm>
            <a:off x="6309360" y="1691640"/>
            <a:ext cx="5349240" cy="4434840"/>
          </a:xfrm>
          <a:prstGeom prst="roundRect">
            <a:avLst>
              <a:gd name="adj" fmla="val 1649"/>
            </a:avLst>
          </a:prstGeom>
          <a:solidFill>
            <a:srgbClr val="FFFFFF"/>
          </a:solidFill>
          <a:ln/>
          <a:effectLst>
            <a:outerShdw sx="100000" sy="100000" kx="0" ky="0" algn="bl" rotWithShape="0" blurRad="127000" dist="38100" dir="2700000">
              <a:srgbClr val="1E2761">
                <a:alpha val="12000"/>
              </a:srgbClr>
            </a:outerShdw>
          </a:effectLst>
        </p:spPr>
      </p:sp>
      <p:sp>
        <p:nvSpPr>
          <p:cNvPr id="19" name="Text 17"/>
          <p:cNvSpPr/>
          <p:nvPr/>
        </p:nvSpPr>
        <p:spPr>
          <a:xfrm>
            <a:off x="6583680" y="1874520"/>
            <a:ext cx="48463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Revenue vs. Net Loss (₹ Cr)</a:t>
            </a:r>
            <a:endParaRPr lang="en-US" sz="1200" dirty="0"/>
          </a:p>
        </p:txBody>
      </p:sp>
      <p:graphicFrame>
        <p:nvGraphicFramePr>
          <p:cNvPr id="20" name="Chart 0" descr=""/>
          <p:cNvGraphicFramePr/>
          <p:nvPr/>
        </p:nvGraphicFramePr>
        <p:xfrm>
          <a:off x="6492240" y="228600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2</a:t>
            </a:r>
            <a:endParaRPr lang="en-US" sz="1000" dirty="0"/>
          </a:p>
        </p:txBody>
      </p:sp>
      <p:sp>
        <p:nvSpPr>
          <p:cNvPr id="22" name="Text 19"/>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C"/>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8891B5"/>
                </a:solidFill>
                <a:latin typeface="Calibri" pitchFamily="34" charset="0"/>
                <a:ea typeface="Calibri" pitchFamily="34" charset="-122"/>
                <a:cs typeface="Calibri" pitchFamily="34" charset="-120"/>
              </a:rPr>
              <a:t>PRODUCT STRATEGY</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600" b="1" dirty="0">
                <a:solidFill>
                  <a:srgbClr val="1E2761"/>
                </a:solidFill>
                <a:latin typeface="Calibri" pitchFamily="34" charset="0"/>
                <a:ea typeface="Calibri" pitchFamily="34" charset="-122"/>
                <a:cs typeface="Calibri" pitchFamily="34" charset="-120"/>
              </a:rPr>
              <a:t>Spinny stopped selling cars and started selling relationships — because a one-time sale barely breaks even.</a:t>
            </a:r>
            <a:endParaRPr lang="en-US" sz="2600" dirty="0"/>
          </a:p>
        </p:txBody>
      </p:sp>
      <p:sp>
        <p:nvSpPr>
          <p:cNvPr id="4" name="Text 2"/>
          <p:cNvSpPr/>
          <p:nvPr/>
        </p:nvSpPr>
        <p:spPr>
          <a:xfrm>
            <a:off x="548640" y="1920240"/>
            <a:ext cx="11064240" cy="777240"/>
          </a:xfrm>
          <a:prstGeom prst="rect">
            <a:avLst/>
          </a:prstGeom>
          <a:noFill/>
          <a:ln/>
        </p:spPr>
        <p:txBody>
          <a:bodyPr wrap="square" lIns="0" tIns="0" rIns="0" bIns="0" rtlCol="0" anchor="ctr"/>
          <a:lstStyle/>
          <a:p>
            <a:pPr indent="0" marL="0">
              <a:lnSpc>
                <a:spcPct val="122000"/>
              </a:lnSpc>
              <a:buNone/>
            </a:pPr>
            <a:r>
              <a:rPr lang="en-US" sz="1250" dirty="0">
                <a:solidFill>
                  <a:srgbClr val="1A1A1A"/>
                </a:solidFill>
                <a:latin typeface="Calibri" pitchFamily="34" charset="0"/>
                <a:ea typeface="Calibri" pitchFamily="34" charset="-122"/>
                <a:cs typeface="Calibri" pitchFamily="34" charset="-120"/>
              </a:rPr>
              <a:t>Job-to-be-done: buy a used car without fear of being cheated. Spinny's differentiation is ownership — inspecting, warrantying and reselling every car itself, so trust is guaranteed rather than promised. Every 2024–26 move (GoMechanic, Spinny Capital, Haymarket, Spinny Circle) extends that trust across the full ownership lifecycle, turning a thin-margin sale into a recurring relationship.</a:t>
            </a:r>
            <a:endParaRPr lang="en-US" sz="1250" dirty="0"/>
          </a:p>
        </p:txBody>
      </p:sp>
      <p:sp>
        <p:nvSpPr>
          <p:cNvPr id="5" name="Shape 3"/>
          <p:cNvSpPr/>
          <p:nvPr/>
        </p:nvSpPr>
        <p:spPr>
          <a:xfrm>
            <a:off x="548640" y="2880360"/>
            <a:ext cx="1630680" cy="2514600"/>
          </a:xfrm>
          <a:prstGeom prst="roundRect">
            <a:avLst>
              <a:gd name="adj" fmla="val 4486"/>
            </a:avLst>
          </a:prstGeom>
          <a:solidFill>
            <a:srgbClr val="FFFFFF"/>
          </a:solidFill>
          <a:ln/>
          <a:effectLst>
            <a:outerShdw sx="100000" sy="100000" kx="0" ky="0" algn="bl" rotWithShape="0" blurRad="127000" dist="38100" dir="2700000">
              <a:srgbClr val="1E2761">
                <a:alpha val="12000"/>
              </a:srgbClr>
            </a:outerShdw>
          </a:effectLst>
        </p:spPr>
      </p:sp>
      <p:pic>
        <p:nvPicPr>
          <p:cNvPr id="6" name="Image 0" descr="preencoded.png">    </p:cNvPr>
          <p:cNvPicPr>
            <a:picLocks noChangeAspect="1"/>
          </p:cNvPicPr>
          <p:nvPr/>
        </p:nvPicPr>
        <p:blipFill>
          <a:blip r:embed="rId1"/>
          <a:stretch>
            <a:fillRect/>
          </a:stretch>
        </p:blipFill>
        <p:spPr>
          <a:xfrm>
            <a:off x="1071372" y="3154680"/>
            <a:ext cx="585216" cy="585216"/>
          </a:xfrm>
          <a:prstGeom prst="rect">
            <a:avLst/>
          </a:prstGeom>
        </p:spPr>
      </p:pic>
      <p:sp>
        <p:nvSpPr>
          <p:cNvPr id="7" name="Text 4"/>
          <p:cNvSpPr/>
          <p:nvPr/>
        </p:nvSpPr>
        <p:spPr>
          <a:xfrm>
            <a:off x="548640" y="3867912"/>
            <a:ext cx="1630680"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Discover</a:t>
            </a:r>
            <a:endParaRPr lang="en-US" sz="1300" dirty="0"/>
          </a:p>
        </p:txBody>
      </p:sp>
      <p:sp>
        <p:nvSpPr>
          <p:cNvPr id="8" name="Text 5"/>
          <p:cNvSpPr/>
          <p:nvPr/>
        </p:nvSpPr>
        <p:spPr>
          <a:xfrm>
            <a:off x="621792" y="4251960"/>
            <a:ext cx="1484376" cy="1005840"/>
          </a:xfrm>
          <a:prstGeom prst="rect">
            <a:avLst/>
          </a:prstGeom>
          <a:noFill/>
          <a:ln/>
        </p:spPr>
        <p:txBody>
          <a:bodyPr wrap="square" lIns="0" tIns="0" rIns="0" bIns="0" rtlCol="0" anchor="ctr"/>
          <a:lstStyle/>
          <a:p>
            <a:pPr algn="ctr" indent="0" marL="0">
              <a:lnSpc>
                <a:spcPct val="115000"/>
              </a:lnSpc>
              <a:buNone/>
            </a:pPr>
            <a:r>
              <a:rPr lang="en-US" sz="950" dirty="0">
                <a:solidFill>
                  <a:srgbClr val="5A5A5A"/>
                </a:solidFill>
                <a:latin typeface="Calibri" pitchFamily="34" charset="0"/>
                <a:ea typeface="Calibri" pitchFamily="34" charset="-122"/>
                <a:cs typeface="Calibri" pitchFamily="34" charset="-120"/>
              </a:rPr>
              <a:t>spinny.com, Autocar</a:t>
            </a:r>
            <a:endParaRPr lang="en-US" sz="950" dirty="0"/>
          </a:p>
        </p:txBody>
      </p:sp>
      <p:sp>
        <p:nvSpPr>
          <p:cNvPr id="9" name="Shape 6"/>
          <p:cNvSpPr/>
          <p:nvPr/>
        </p:nvSpPr>
        <p:spPr>
          <a:xfrm>
            <a:off x="2234184" y="3995928"/>
            <a:ext cx="146304" cy="146304"/>
          </a:xfrm>
          <a:prstGeom prst="ellipse">
            <a:avLst/>
          </a:prstGeom>
          <a:solidFill>
            <a:srgbClr val="3B4A8C"/>
          </a:solidFill>
          <a:ln/>
        </p:spPr>
      </p:sp>
      <p:sp>
        <p:nvSpPr>
          <p:cNvPr id="10" name="Shape 7"/>
          <p:cNvSpPr/>
          <p:nvPr/>
        </p:nvSpPr>
        <p:spPr>
          <a:xfrm>
            <a:off x="2435352" y="2880360"/>
            <a:ext cx="1630680" cy="2514600"/>
          </a:xfrm>
          <a:prstGeom prst="roundRect">
            <a:avLst>
              <a:gd name="adj" fmla="val 4486"/>
            </a:avLst>
          </a:prstGeom>
          <a:solidFill>
            <a:srgbClr val="FFFFFF"/>
          </a:solidFill>
          <a:ln/>
          <a:effectLst>
            <a:outerShdw sx="100000" sy="100000" kx="0" ky="0" algn="bl" rotWithShape="0" blurRad="127000" dist="38100" dir="2700000">
              <a:srgbClr val="1E2761">
                <a:alpha val="12000"/>
              </a:srgbClr>
            </a:outerShdw>
          </a:effectLst>
        </p:spPr>
      </p:sp>
      <p:pic>
        <p:nvPicPr>
          <p:cNvPr id="11" name="Image 1" descr="preencoded.png">    </p:cNvPr>
          <p:cNvPicPr>
            <a:picLocks noChangeAspect="1"/>
          </p:cNvPicPr>
          <p:nvPr/>
        </p:nvPicPr>
        <p:blipFill>
          <a:blip r:embed="rId2"/>
          <a:stretch>
            <a:fillRect/>
          </a:stretch>
        </p:blipFill>
        <p:spPr>
          <a:xfrm>
            <a:off x="2958084" y="3154680"/>
            <a:ext cx="585216" cy="585216"/>
          </a:xfrm>
          <a:prstGeom prst="rect">
            <a:avLst/>
          </a:prstGeom>
        </p:spPr>
      </p:pic>
      <p:sp>
        <p:nvSpPr>
          <p:cNvPr id="12" name="Text 8"/>
          <p:cNvSpPr/>
          <p:nvPr/>
        </p:nvSpPr>
        <p:spPr>
          <a:xfrm>
            <a:off x="2435352" y="3867912"/>
            <a:ext cx="1630680"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Buy</a:t>
            </a:r>
            <a:endParaRPr lang="en-US" sz="1300" dirty="0"/>
          </a:p>
        </p:txBody>
      </p:sp>
      <p:sp>
        <p:nvSpPr>
          <p:cNvPr id="13" name="Text 9"/>
          <p:cNvSpPr/>
          <p:nvPr/>
        </p:nvSpPr>
        <p:spPr>
          <a:xfrm>
            <a:off x="2508504" y="4251960"/>
            <a:ext cx="1484376" cy="1005840"/>
          </a:xfrm>
          <a:prstGeom prst="rect">
            <a:avLst/>
          </a:prstGeom>
          <a:noFill/>
          <a:ln/>
        </p:spPr>
        <p:txBody>
          <a:bodyPr wrap="square" lIns="0" tIns="0" rIns="0" bIns="0" rtlCol="0" anchor="ctr"/>
          <a:lstStyle/>
          <a:p>
            <a:pPr algn="ctr" indent="0" marL="0">
              <a:lnSpc>
                <a:spcPct val="115000"/>
              </a:lnSpc>
              <a:buNone/>
            </a:pPr>
            <a:r>
              <a:rPr lang="en-US" sz="950" dirty="0">
                <a:solidFill>
                  <a:srgbClr val="5A5A5A"/>
                </a:solidFill>
                <a:latin typeface="Calibri" pitchFamily="34" charset="0"/>
                <a:ea typeface="Calibri" pitchFamily="34" charset="-122"/>
                <a:cs typeface="Calibri" pitchFamily="34" charset="-120"/>
              </a:rPr>
              <a:t>Spinny Assured</a:t>
            </a:r>
            <a:endParaRPr lang="en-US" sz="950" dirty="0"/>
          </a:p>
        </p:txBody>
      </p:sp>
      <p:sp>
        <p:nvSpPr>
          <p:cNvPr id="14" name="Shape 10"/>
          <p:cNvSpPr/>
          <p:nvPr/>
        </p:nvSpPr>
        <p:spPr>
          <a:xfrm>
            <a:off x="4120896" y="3995928"/>
            <a:ext cx="146304" cy="146304"/>
          </a:xfrm>
          <a:prstGeom prst="ellipse">
            <a:avLst/>
          </a:prstGeom>
          <a:solidFill>
            <a:srgbClr val="3B4A8C"/>
          </a:solidFill>
          <a:ln/>
        </p:spPr>
      </p:sp>
      <p:sp>
        <p:nvSpPr>
          <p:cNvPr id="15" name="Shape 11"/>
          <p:cNvSpPr/>
          <p:nvPr/>
        </p:nvSpPr>
        <p:spPr>
          <a:xfrm>
            <a:off x="4322064" y="2880360"/>
            <a:ext cx="1630680" cy="2514600"/>
          </a:xfrm>
          <a:prstGeom prst="roundRect">
            <a:avLst>
              <a:gd name="adj" fmla="val 4486"/>
            </a:avLst>
          </a:prstGeom>
          <a:solidFill>
            <a:srgbClr val="FFFFFF"/>
          </a:solidFill>
          <a:ln/>
          <a:effectLst>
            <a:outerShdw sx="100000" sy="100000" kx="0" ky="0" algn="bl" rotWithShape="0" blurRad="127000" dist="38100" dir="2700000">
              <a:srgbClr val="1E2761">
                <a:alpha val="12000"/>
              </a:srgbClr>
            </a:outerShdw>
          </a:effectLst>
        </p:spPr>
      </p:sp>
      <p:pic>
        <p:nvPicPr>
          <p:cNvPr id="16" name="Image 2" descr="preencoded.png">    </p:cNvPr>
          <p:cNvPicPr>
            <a:picLocks noChangeAspect="1"/>
          </p:cNvPicPr>
          <p:nvPr/>
        </p:nvPicPr>
        <p:blipFill>
          <a:blip r:embed="rId3"/>
          <a:stretch>
            <a:fillRect/>
          </a:stretch>
        </p:blipFill>
        <p:spPr>
          <a:xfrm>
            <a:off x="4844796" y="3154680"/>
            <a:ext cx="585216" cy="585216"/>
          </a:xfrm>
          <a:prstGeom prst="rect">
            <a:avLst/>
          </a:prstGeom>
        </p:spPr>
      </p:pic>
      <p:sp>
        <p:nvSpPr>
          <p:cNvPr id="17" name="Text 12"/>
          <p:cNvSpPr/>
          <p:nvPr/>
        </p:nvSpPr>
        <p:spPr>
          <a:xfrm>
            <a:off x="4322064" y="3867912"/>
            <a:ext cx="1630680"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Finance</a:t>
            </a:r>
            <a:endParaRPr lang="en-US" sz="1300" dirty="0"/>
          </a:p>
        </p:txBody>
      </p:sp>
      <p:sp>
        <p:nvSpPr>
          <p:cNvPr id="18" name="Text 13"/>
          <p:cNvSpPr/>
          <p:nvPr/>
        </p:nvSpPr>
        <p:spPr>
          <a:xfrm>
            <a:off x="4395216" y="4251960"/>
            <a:ext cx="1484376" cy="1005840"/>
          </a:xfrm>
          <a:prstGeom prst="rect">
            <a:avLst/>
          </a:prstGeom>
          <a:noFill/>
          <a:ln/>
        </p:spPr>
        <p:txBody>
          <a:bodyPr wrap="square" lIns="0" tIns="0" rIns="0" bIns="0" rtlCol="0" anchor="ctr"/>
          <a:lstStyle/>
          <a:p>
            <a:pPr algn="ctr" indent="0" marL="0">
              <a:lnSpc>
                <a:spcPct val="115000"/>
              </a:lnSpc>
              <a:buNone/>
            </a:pPr>
            <a:r>
              <a:rPr lang="en-US" sz="950" dirty="0">
                <a:solidFill>
                  <a:srgbClr val="5A5A5A"/>
                </a:solidFill>
                <a:latin typeface="Calibri" pitchFamily="34" charset="0"/>
                <a:ea typeface="Calibri" pitchFamily="34" charset="-122"/>
                <a:cs typeface="Calibri" pitchFamily="34" charset="-120"/>
              </a:rPr>
              <a:t>Spinny Capital</a:t>
            </a:r>
            <a:endParaRPr lang="en-US" sz="950" dirty="0"/>
          </a:p>
        </p:txBody>
      </p:sp>
      <p:sp>
        <p:nvSpPr>
          <p:cNvPr id="19" name="Shape 14"/>
          <p:cNvSpPr/>
          <p:nvPr/>
        </p:nvSpPr>
        <p:spPr>
          <a:xfrm>
            <a:off x="6007608" y="3995928"/>
            <a:ext cx="146304" cy="146304"/>
          </a:xfrm>
          <a:prstGeom prst="ellipse">
            <a:avLst/>
          </a:prstGeom>
          <a:solidFill>
            <a:srgbClr val="3B4A8C"/>
          </a:solidFill>
          <a:ln/>
        </p:spPr>
      </p:sp>
      <p:sp>
        <p:nvSpPr>
          <p:cNvPr id="20" name="Shape 15"/>
          <p:cNvSpPr/>
          <p:nvPr/>
        </p:nvSpPr>
        <p:spPr>
          <a:xfrm>
            <a:off x="6208776" y="2880360"/>
            <a:ext cx="1630680" cy="2514600"/>
          </a:xfrm>
          <a:prstGeom prst="roundRect">
            <a:avLst>
              <a:gd name="adj" fmla="val 4486"/>
            </a:avLst>
          </a:prstGeom>
          <a:solidFill>
            <a:srgbClr val="FFFFFF"/>
          </a:solidFill>
          <a:ln/>
          <a:effectLst>
            <a:outerShdw sx="100000" sy="100000" kx="0" ky="0" algn="bl" rotWithShape="0" blurRad="127000" dist="38100" dir="2700000">
              <a:srgbClr val="1E2761">
                <a:alpha val="12000"/>
              </a:srgbClr>
            </a:outerShdw>
          </a:effectLst>
        </p:spPr>
      </p:sp>
      <p:pic>
        <p:nvPicPr>
          <p:cNvPr id="21" name="Image 3" descr="preencoded.png">    </p:cNvPr>
          <p:cNvPicPr>
            <a:picLocks noChangeAspect="1"/>
          </p:cNvPicPr>
          <p:nvPr/>
        </p:nvPicPr>
        <p:blipFill>
          <a:blip r:embed="rId4"/>
          <a:stretch>
            <a:fillRect/>
          </a:stretch>
        </p:blipFill>
        <p:spPr>
          <a:xfrm>
            <a:off x="6731508" y="3154680"/>
            <a:ext cx="585216" cy="585216"/>
          </a:xfrm>
          <a:prstGeom prst="rect">
            <a:avLst/>
          </a:prstGeom>
        </p:spPr>
      </p:pic>
      <p:sp>
        <p:nvSpPr>
          <p:cNvPr id="22" name="Text 16"/>
          <p:cNvSpPr/>
          <p:nvPr/>
        </p:nvSpPr>
        <p:spPr>
          <a:xfrm>
            <a:off x="6208776" y="3867912"/>
            <a:ext cx="1630680"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Protect</a:t>
            </a:r>
            <a:endParaRPr lang="en-US" sz="1300" dirty="0"/>
          </a:p>
        </p:txBody>
      </p:sp>
      <p:sp>
        <p:nvSpPr>
          <p:cNvPr id="23" name="Text 17"/>
          <p:cNvSpPr/>
          <p:nvPr/>
        </p:nvSpPr>
        <p:spPr>
          <a:xfrm>
            <a:off x="6281928" y="4251960"/>
            <a:ext cx="1484376" cy="1005840"/>
          </a:xfrm>
          <a:prstGeom prst="rect">
            <a:avLst/>
          </a:prstGeom>
          <a:noFill/>
          <a:ln/>
        </p:spPr>
        <p:txBody>
          <a:bodyPr wrap="square" lIns="0" tIns="0" rIns="0" bIns="0" rtlCol="0" anchor="ctr"/>
          <a:lstStyle/>
          <a:p>
            <a:pPr algn="ctr" indent="0" marL="0">
              <a:lnSpc>
                <a:spcPct val="115000"/>
              </a:lnSpc>
              <a:buNone/>
            </a:pPr>
            <a:r>
              <a:rPr lang="en-US" sz="950" dirty="0">
                <a:solidFill>
                  <a:srgbClr val="5A5A5A"/>
                </a:solidFill>
                <a:latin typeface="Calibri" pitchFamily="34" charset="0"/>
                <a:ea typeface="Calibri" pitchFamily="34" charset="-122"/>
                <a:cs typeface="Calibri" pitchFamily="34" charset="-120"/>
              </a:rPr>
              <a:t>Warranty &amp; insurance</a:t>
            </a:r>
            <a:endParaRPr lang="en-US" sz="950" dirty="0"/>
          </a:p>
        </p:txBody>
      </p:sp>
      <p:sp>
        <p:nvSpPr>
          <p:cNvPr id="24" name="Shape 18"/>
          <p:cNvSpPr/>
          <p:nvPr/>
        </p:nvSpPr>
        <p:spPr>
          <a:xfrm>
            <a:off x="7894320" y="3995928"/>
            <a:ext cx="146304" cy="146304"/>
          </a:xfrm>
          <a:prstGeom prst="ellipse">
            <a:avLst/>
          </a:prstGeom>
          <a:solidFill>
            <a:srgbClr val="3B4A8C"/>
          </a:solidFill>
          <a:ln/>
        </p:spPr>
      </p:sp>
      <p:sp>
        <p:nvSpPr>
          <p:cNvPr id="25" name="Shape 19"/>
          <p:cNvSpPr/>
          <p:nvPr/>
        </p:nvSpPr>
        <p:spPr>
          <a:xfrm>
            <a:off x="8095488" y="2880360"/>
            <a:ext cx="1630680" cy="2514600"/>
          </a:xfrm>
          <a:prstGeom prst="roundRect">
            <a:avLst>
              <a:gd name="adj" fmla="val 4486"/>
            </a:avLst>
          </a:prstGeom>
          <a:solidFill>
            <a:srgbClr val="FFFFFF"/>
          </a:solidFill>
          <a:ln/>
          <a:effectLst>
            <a:outerShdw sx="100000" sy="100000" kx="0" ky="0" algn="bl" rotWithShape="0" blurRad="127000" dist="38100" dir="2700000">
              <a:srgbClr val="1E2761">
                <a:alpha val="12000"/>
              </a:srgbClr>
            </a:outerShdw>
          </a:effectLst>
        </p:spPr>
      </p:sp>
      <p:pic>
        <p:nvPicPr>
          <p:cNvPr id="26" name="Image 4" descr="preencoded.png">    </p:cNvPr>
          <p:cNvPicPr>
            <a:picLocks noChangeAspect="1"/>
          </p:cNvPicPr>
          <p:nvPr/>
        </p:nvPicPr>
        <p:blipFill>
          <a:blip r:embed="rId5"/>
          <a:stretch>
            <a:fillRect/>
          </a:stretch>
        </p:blipFill>
        <p:spPr>
          <a:xfrm>
            <a:off x="8618220" y="3154680"/>
            <a:ext cx="585216" cy="585216"/>
          </a:xfrm>
          <a:prstGeom prst="rect">
            <a:avLst/>
          </a:prstGeom>
        </p:spPr>
      </p:pic>
      <p:sp>
        <p:nvSpPr>
          <p:cNvPr id="27" name="Text 20"/>
          <p:cNvSpPr/>
          <p:nvPr/>
        </p:nvSpPr>
        <p:spPr>
          <a:xfrm>
            <a:off x="8095488" y="3867912"/>
            <a:ext cx="1630680"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Service</a:t>
            </a:r>
            <a:endParaRPr lang="en-US" sz="1300" dirty="0"/>
          </a:p>
        </p:txBody>
      </p:sp>
      <p:sp>
        <p:nvSpPr>
          <p:cNvPr id="28" name="Text 21"/>
          <p:cNvSpPr/>
          <p:nvPr/>
        </p:nvSpPr>
        <p:spPr>
          <a:xfrm>
            <a:off x="8168640" y="4251960"/>
            <a:ext cx="1484376" cy="1005840"/>
          </a:xfrm>
          <a:prstGeom prst="rect">
            <a:avLst/>
          </a:prstGeom>
          <a:noFill/>
          <a:ln/>
        </p:spPr>
        <p:txBody>
          <a:bodyPr wrap="square" lIns="0" tIns="0" rIns="0" bIns="0" rtlCol="0" anchor="ctr"/>
          <a:lstStyle/>
          <a:p>
            <a:pPr algn="ctr" indent="0" marL="0">
              <a:lnSpc>
                <a:spcPct val="115000"/>
              </a:lnSpc>
              <a:buNone/>
            </a:pPr>
            <a:r>
              <a:rPr lang="en-US" sz="950" dirty="0">
                <a:solidFill>
                  <a:srgbClr val="5A5A5A"/>
                </a:solidFill>
                <a:latin typeface="Calibri" pitchFamily="34" charset="0"/>
                <a:ea typeface="Calibri" pitchFamily="34" charset="-122"/>
                <a:cs typeface="Calibri" pitchFamily="34" charset="-120"/>
              </a:rPr>
              <a:t>GoMechanic</a:t>
            </a:r>
            <a:endParaRPr lang="en-US" sz="950" dirty="0"/>
          </a:p>
        </p:txBody>
      </p:sp>
      <p:sp>
        <p:nvSpPr>
          <p:cNvPr id="29" name="Shape 22"/>
          <p:cNvSpPr/>
          <p:nvPr/>
        </p:nvSpPr>
        <p:spPr>
          <a:xfrm>
            <a:off x="9781032" y="3995928"/>
            <a:ext cx="146304" cy="146304"/>
          </a:xfrm>
          <a:prstGeom prst="ellipse">
            <a:avLst/>
          </a:prstGeom>
          <a:solidFill>
            <a:srgbClr val="3B4A8C"/>
          </a:solidFill>
          <a:ln/>
        </p:spPr>
      </p:sp>
      <p:sp>
        <p:nvSpPr>
          <p:cNvPr id="30" name="Shape 23"/>
          <p:cNvSpPr/>
          <p:nvPr/>
        </p:nvSpPr>
        <p:spPr>
          <a:xfrm>
            <a:off x="9982200" y="2880360"/>
            <a:ext cx="1630680" cy="2514600"/>
          </a:xfrm>
          <a:prstGeom prst="roundRect">
            <a:avLst>
              <a:gd name="adj" fmla="val 4486"/>
            </a:avLst>
          </a:prstGeom>
          <a:solidFill>
            <a:srgbClr val="FFFFFF"/>
          </a:solidFill>
          <a:ln/>
          <a:effectLst>
            <a:outerShdw sx="100000" sy="100000" kx="0" ky="0" algn="bl" rotWithShape="0" blurRad="127000" dist="38100" dir="2700000">
              <a:srgbClr val="1E2761">
                <a:alpha val="12000"/>
              </a:srgbClr>
            </a:outerShdw>
          </a:effectLst>
        </p:spPr>
      </p:sp>
      <p:pic>
        <p:nvPicPr>
          <p:cNvPr id="31" name="Image 5" descr="preencoded.png">    </p:cNvPr>
          <p:cNvPicPr>
            <a:picLocks noChangeAspect="1"/>
          </p:cNvPicPr>
          <p:nvPr/>
        </p:nvPicPr>
        <p:blipFill>
          <a:blip r:embed="rId6"/>
          <a:stretch>
            <a:fillRect/>
          </a:stretch>
        </p:blipFill>
        <p:spPr>
          <a:xfrm>
            <a:off x="10504932" y="3154680"/>
            <a:ext cx="585216" cy="585216"/>
          </a:xfrm>
          <a:prstGeom prst="rect">
            <a:avLst/>
          </a:prstGeom>
        </p:spPr>
      </p:pic>
      <p:sp>
        <p:nvSpPr>
          <p:cNvPr id="32" name="Text 24"/>
          <p:cNvSpPr/>
          <p:nvPr/>
        </p:nvSpPr>
        <p:spPr>
          <a:xfrm>
            <a:off x="9982200" y="3867912"/>
            <a:ext cx="1630680"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Resell</a:t>
            </a:r>
            <a:endParaRPr lang="en-US" sz="1300" dirty="0"/>
          </a:p>
        </p:txBody>
      </p:sp>
      <p:sp>
        <p:nvSpPr>
          <p:cNvPr id="33" name="Text 25"/>
          <p:cNvSpPr/>
          <p:nvPr/>
        </p:nvSpPr>
        <p:spPr>
          <a:xfrm>
            <a:off x="10055352" y="4251960"/>
            <a:ext cx="1484376" cy="1005840"/>
          </a:xfrm>
          <a:prstGeom prst="rect">
            <a:avLst/>
          </a:prstGeom>
          <a:noFill/>
          <a:ln/>
        </p:spPr>
        <p:txBody>
          <a:bodyPr wrap="square" lIns="0" tIns="0" rIns="0" bIns="0" rtlCol="0" anchor="ctr"/>
          <a:lstStyle/>
          <a:p>
            <a:pPr algn="ctr" indent="0" marL="0">
              <a:lnSpc>
                <a:spcPct val="115000"/>
              </a:lnSpc>
              <a:buNone/>
            </a:pPr>
            <a:r>
              <a:rPr lang="en-US" sz="950" dirty="0">
                <a:solidFill>
                  <a:srgbClr val="5A5A5A"/>
                </a:solidFill>
                <a:latin typeface="Calibri" pitchFamily="34" charset="0"/>
                <a:ea typeface="Calibri" pitchFamily="34" charset="-122"/>
                <a:cs typeface="Calibri" pitchFamily="34" charset="-120"/>
              </a:rPr>
              <a:t>SellRight, OEM exchange</a:t>
            </a:r>
            <a:endParaRPr lang="en-US" sz="950" dirty="0"/>
          </a:p>
        </p:txBody>
      </p:sp>
      <p:sp>
        <p:nvSpPr>
          <p:cNvPr id="34" name="Text 26"/>
          <p:cNvSpPr/>
          <p:nvPr/>
        </p:nvSpPr>
        <p:spPr>
          <a:xfrm>
            <a:off x="548640" y="5623560"/>
            <a:ext cx="11064240" cy="411480"/>
          </a:xfrm>
          <a:prstGeom prst="rect">
            <a:avLst/>
          </a:prstGeom>
          <a:noFill/>
          <a:ln/>
        </p:spPr>
        <p:txBody>
          <a:bodyPr wrap="square" lIns="0" tIns="0" rIns="0" bIns="0" rtlCol="0" anchor="ctr"/>
          <a:lstStyle/>
          <a:p>
            <a:pPr indent="0" marL="0">
              <a:buNone/>
            </a:pPr>
            <a:r>
              <a:rPr lang="en-US" sz="1050" i="1" dirty="0">
                <a:solidFill>
                  <a:srgbClr val="5A5A5A"/>
                </a:solidFill>
                <a:latin typeface="Calibri" pitchFamily="34" charset="0"/>
                <a:ea typeface="Calibri" pitchFamily="34" charset="-122"/>
                <a:cs typeface="Calibri" pitchFamily="34" charset="-120"/>
              </a:rPr>
              <a:t>Pricing model: fixed, no-haggle pricing on the vehicle, with margin captured through financing, warranty and service attach rather than the sale itself.</a:t>
            </a:r>
            <a:endParaRPr lang="en-US" sz="1050" dirty="0"/>
          </a:p>
        </p:txBody>
      </p:sp>
      <p:sp>
        <p:nvSpPr>
          <p:cNvPr id="35" name="Text 27"/>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3</a:t>
            </a:r>
            <a:endParaRPr lang="en-US" sz="1000" dirty="0"/>
          </a:p>
        </p:txBody>
      </p:sp>
      <p:sp>
        <p:nvSpPr>
          <p:cNvPr id="36" name="Text 28"/>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C"/>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8891B5"/>
                </a:solidFill>
                <a:latin typeface="Calibri" pitchFamily="34" charset="0"/>
                <a:ea typeface="Calibri" pitchFamily="34" charset="-122"/>
                <a:cs typeface="Calibri" pitchFamily="34" charset="-120"/>
              </a:rPr>
              <a:t>DIGITAL STRATEGY</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600" b="1" dirty="0">
                <a:solidFill>
                  <a:srgbClr val="1E2761"/>
                </a:solidFill>
                <a:latin typeface="Calibri" pitchFamily="34" charset="0"/>
                <a:ea typeface="Calibri" pitchFamily="34" charset="-122"/>
                <a:cs typeface="Calibri" pitchFamily="34" charset="-120"/>
              </a:rPr>
              <a:t>Spinny wins the front door but is nearly invisible in the research phase — where the sale actually gets decided.</a:t>
            </a:r>
            <a:endParaRPr lang="en-US" sz="2600" dirty="0"/>
          </a:p>
        </p:txBody>
      </p:sp>
      <p:sp>
        <p:nvSpPr>
          <p:cNvPr id="4" name="Text 2"/>
          <p:cNvSpPr/>
          <p:nvPr/>
        </p:nvSpPr>
        <p:spPr>
          <a:xfrm>
            <a:off x="548640" y="1920240"/>
            <a:ext cx="5120640" cy="1691640"/>
          </a:xfrm>
          <a:prstGeom prst="rect">
            <a:avLst/>
          </a:prstGeom>
          <a:noFill/>
          <a:ln/>
        </p:spPr>
        <p:txBody>
          <a:bodyPr wrap="square" lIns="0" tIns="0" rIns="0" bIns="0" rtlCol="0" anchor="ctr"/>
          <a:lstStyle/>
          <a:p>
            <a:pPr indent="0" marL="0">
              <a:lnSpc>
                <a:spcPct val="125000"/>
              </a:lnSpc>
              <a:buNone/>
            </a:pPr>
            <a:r>
              <a:rPr lang="en-US" sz="1250" dirty="0">
                <a:solidFill>
                  <a:srgbClr val="1A1A1A"/>
                </a:solidFill>
                <a:latin typeface="Calibri" pitchFamily="34" charset="0"/>
                <a:ea typeface="Calibri" pitchFamily="34" charset="-122"/>
                <a:cs typeface="Calibri" pitchFamily="34" charset="-120"/>
              </a:rPr>
              <a:t>Direct traffic (brand recall) is Spinny’s #1 channel — strong, cheap acquisition. But CarDekho pulls 4.6× Spinny’s monthly traffic through non-brand organic search, capturing buyers before they ever reach Spinny.</a:t>
            </a:r>
            <a:endParaRPr lang="en-US" sz="1250" dirty="0"/>
          </a:p>
        </p:txBody>
      </p:sp>
      <p:sp>
        <p:nvSpPr>
          <p:cNvPr id="5" name="Shape 3"/>
          <p:cNvSpPr/>
          <p:nvPr/>
        </p:nvSpPr>
        <p:spPr>
          <a:xfrm>
            <a:off x="548640" y="3840480"/>
            <a:ext cx="128016" cy="128016"/>
          </a:xfrm>
          <a:prstGeom prst="ellipse">
            <a:avLst/>
          </a:prstGeom>
          <a:solidFill>
            <a:srgbClr val="1E8F6F"/>
          </a:solidFill>
          <a:ln/>
        </p:spPr>
      </p:sp>
      <p:sp>
        <p:nvSpPr>
          <p:cNvPr id="6" name="Text 4"/>
          <p:cNvSpPr/>
          <p:nvPr/>
        </p:nvSpPr>
        <p:spPr>
          <a:xfrm>
            <a:off x="841248" y="3721608"/>
            <a:ext cx="512064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Direct traffic share (Spinny)</a:t>
            </a:r>
            <a:endParaRPr lang="en-US" sz="1100" dirty="0"/>
          </a:p>
        </p:txBody>
      </p:sp>
      <p:sp>
        <p:nvSpPr>
          <p:cNvPr id="7" name="Text 5"/>
          <p:cNvSpPr/>
          <p:nvPr/>
        </p:nvSpPr>
        <p:spPr>
          <a:xfrm>
            <a:off x="841248" y="3950208"/>
            <a:ext cx="5120640" cy="274320"/>
          </a:xfrm>
          <a:prstGeom prst="rect">
            <a:avLst/>
          </a:prstGeom>
          <a:noFill/>
          <a:ln/>
        </p:spPr>
        <p:txBody>
          <a:bodyPr wrap="square" lIns="0" tIns="0" rIns="0" bIns="0" rtlCol="0" anchor="ctr"/>
          <a:lstStyle/>
          <a:p>
            <a:pPr indent="0" marL="0">
              <a:buNone/>
            </a:pPr>
            <a:r>
              <a:rPr lang="en-US" sz="980" dirty="0">
                <a:solidFill>
                  <a:srgbClr val="5A5A5A"/>
                </a:solidFill>
                <a:latin typeface="Calibri" pitchFamily="34" charset="0"/>
                <a:ea typeface="Calibri" pitchFamily="34" charset="-122"/>
                <a:cs typeface="Calibri" pitchFamily="34" charset="-120"/>
              </a:rPr>
              <a:t>~39%  —  #1 acquisition channel</a:t>
            </a:r>
            <a:endParaRPr lang="en-US" sz="980" dirty="0"/>
          </a:p>
        </p:txBody>
      </p:sp>
      <p:sp>
        <p:nvSpPr>
          <p:cNvPr id="8" name="Shape 6"/>
          <p:cNvSpPr/>
          <p:nvPr/>
        </p:nvSpPr>
        <p:spPr>
          <a:xfrm>
            <a:off x="548640" y="4352544"/>
            <a:ext cx="128016" cy="128016"/>
          </a:xfrm>
          <a:prstGeom prst="ellipse">
            <a:avLst/>
          </a:prstGeom>
          <a:solidFill>
            <a:srgbClr val="D64541"/>
          </a:solidFill>
          <a:ln/>
        </p:spPr>
      </p:sp>
      <p:sp>
        <p:nvSpPr>
          <p:cNvPr id="9" name="Text 7"/>
          <p:cNvSpPr/>
          <p:nvPr/>
        </p:nvSpPr>
        <p:spPr>
          <a:xfrm>
            <a:off x="841248" y="4233672"/>
            <a:ext cx="512064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Non-brand organic SEO</a:t>
            </a:r>
            <a:endParaRPr lang="en-US" sz="1100" dirty="0"/>
          </a:p>
        </p:txBody>
      </p:sp>
      <p:sp>
        <p:nvSpPr>
          <p:cNvPr id="10" name="Text 8"/>
          <p:cNvSpPr/>
          <p:nvPr/>
        </p:nvSpPr>
        <p:spPr>
          <a:xfrm>
            <a:off x="841248" y="4462272"/>
            <a:ext cx="5120640" cy="274320"/>
          </a:xfrm>
          <a:prstGeom prst="rect">
            <a:avLst/>
          </a:prstGeom>
          <a:noFill/>
          <a:ln/>
        </p:spPr>
        <p:txBody>
          <a:bodyPr wrap="square" lIns="0" tIns="0" rIns="0" bIns="0" rtlCol="0" anchor="ctr"/>
          <a:lstStyle/>
          <a:p>
            <a:pPr indent="0" marL="0">
              <a:buNone/>
            </a:pPr>
            <a:r>
              <a:rPr lang="en-US" sz="980" dirty="0">
                <a:solidFill>
                  <a:srgbClr val="5A5A5A"/>
                </a:solidFill>
                <a:latin typeface="Calibri" pitchFamily="34" charset="0"/>
                <a:ea typeface="Calibri" pitchFamily="34" charset="-122"/>
                <a:cs typeface="Calibri" pitchFamily="34" charset="-120"/>
              </a:rPr>
              <a:t>Trails CarDekho / CarWale</a:t>
            </a:r>
            <a:endParaRPr lang="en-US" sz="980" dirty="0"/>
          </a:p>
        </p:txBody>
      </p:sp>
      <p:sp>
        <p:nvSpPr>
          <p:cNvPr id="11" name="Shape 9"/>
          <p:cNvSpPr/>
          <p:nvPr/>
        </p:nvSpPr>
        <p:spPr>
          <a:xfrm>
            <a:off x="548640" y="4864608"/>
            <a:ext cx="128016" cy="128016"/>
          </a:xfrm>
          <a:prstGeom prst="ellipse">
            <a:avLst/>
          </a:prstGeom>
          <a:solidFill>
            <a:srgbClr val="D64541"/>
          </a:solidFill>
          <a:ln/>
        </p:spPr>
      </p:sp>
      <p:sp>
        <p:nvSpPr>
          <p:cNvPr id="12" name="Text 10"/>
          <p:cNvSpPr/>
          <p:nvPr/>
        </p:nvSpPr>
        <p:spPr>
          <a:xfrm>
            <a:off x="841248" y="4745736"/>
            <a:ext cx="512064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Missing keyword opportunity</a:t>
            </a:r>
            <a:endParaRPr lang="en-US" sz="1100" dirty="0"/>
          </a:p>
        </p:txBody>
      </p:sp>
      <p:sp>
        <p:nvSpPr>
          <p:cNvPr id="13" name="Text 11"/>
          <p:cNvSpPr/>
          <p:nvPr/>
        </p:nvSpPr>
        <p:spPr>
          <a:xfrm>
            <a:off x="841248" y="4974336"/>
            <a:ext cx="5120640" cy="274320"/>
          </a:xfrm>
          <a:prstGeom prst="rect">
            <a:avLst/>
          </a:prstGeom>
          <a:noFill/>
          <a:ln/>
        </p:spPr>
        <p:txBody>
          <a:bodyPr wrap="square" lIns="0" tIns="0" rIns="0" bIns="0" rtlCol="0" anchor="ctr"/>
          <a:lstStyle/>
          <a:p>
            <a:pPr indent="0" marL="0">
              <a:buNone/>
            </a:pPr>
            <a:r>
              <a:rPr lang="en-US" sz="980" dirty="0">
                <a:solidFill>
                  <a:srgbClr val="5A5A5A"/>
                </a:solidFill>
                <a:latin typeface="Calibri" pitchFamily="34" charset="0"/>
                <a:ea typeface="Calibri" pitchFamily="34" charset="-122"/>
                <a:cs typeface="Calibri" pitchFamily="34" charset="-120"/>
              </a:rPr>
              <a:t>37.3K keywords · 6.16M searches/mo untapped</a:t>
            </a:r>
            <a:endParaRPr lang="en-US" sz="980" dirty="0"/>
          </a:p>
        </p:txBody>
      </p:sp>
      <p:sp>
        <p:nvSpPr>
          <p:cNvPr id="14" name="Shape 12"/>
          <p:cNvSpPr/>
          <p:nvPr/>
        </p:nvSpPr>
        <p:spPr>
          <a:xfrm>
            <a:off x="548640" y="5376672"/>
            <a:ext cx="128016" cy="128016"/>
          </a:xfrm>
          <a:prstGeom prst="ellipse">
            <a:avLst/>
          </a:prstGeom>
          <a:solidFill>
            <a:srgbClr val="1E8F6F"/>
          </a:solidFill>
          <a:ln/>
        </p:spPr>
      </p:sp>
      <p:sp>
        <p:nvSpPr>
          <p:cNvPr id="15" name="Text 13"/>
          <p:cNvSpPr/>
          <p:nvPr/>
        </p:nvSpPr>
        <p:spPr>
          <a:xfrm>
            <a:off x="841248" y="5257800"/>
            <a:ext cx="512064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Owned-media referral</a:t>
            </a:r>
            <a:endParaRPr lang="en-US" sz="1100" dirty="0"/>
          </a:p>
        </p:txBody>
      </p:sp>
      <p:sp>
        <p:nvSpPr>
          <p:cNvPr id="16" name="Text 14"/>
          <p:cNvSpPr/>
          <p:nvPr/>
        </p:nvSpPr>
        <p:spPr>
          <a:xfrm>
            <a:off x="841248" y="5486400"/>
            <a:ext cx="5120640" cy="274320"/>
          </a:xfrm>
          <a:prstGeom prst="rect">
            <a:avLst/>
          </a:prstGeom>
          <a:noFill/>
          <a:ln/>
        </p:spPr>
        <p:txBody>
          <a:bodyPr wrap="square" lIns="0" tIns="0" rIns="0" bIns="0" rtlCol="0" anchor="ctr"/>
          <a:lstStyle/>
          <a:p>
            <a:pPr indent="0" marL="0">
              <a:buNone/>
            </a:pPr>
            <a:r>
              <a:rPr lang="en-US" sz="980" dirty="0">
                <a:solidFill>
                  <a:srgbClr val="5A5A5A"/>
                </a:solidFill>
                <a:latin typeface="Calibri" pitchFamily="34" charset="0"/>
                <a:ea typeface="Calibri" pitchFamily="34" charset="-122"/>
                <a:cs typeface="Calibri" pitchFamily="34" charset="-120"/>
              </a:rPr>
              <a:t>Autocar India now a top referrer — acquisition working as designed</a:t>
            </a:r>
            <a:endParaRPr lang="en-US" sz="980" dirty="0"/>
          </a:p>
        </p:txBody>
      </p:sp>
      <p:sp>
        <p:nvSpPr>
          <p:cNvPr id="17" name="Shape 15"/>
          <p:cNvSpPr/>
          <p:nvPr/>
        </p:nvSpPr>
        <p:spPr>
          <a:xfrm>
            <a:off x="6309360" y="1691640"/>
            <a:ext cx="5349240" cy="4434840"/>
          </a:xfrm>
          <a:prstGeom prst="roundRect">
            <a:avLst>
              <a:gd name="adj" fmla="val 1649"/>
            </a:avLst>
          </a:prstGeom>
          <a:solidFill>
            <a:srgbClr val="FFFFFF"/>
          </a:solidFill>
          <a:ln/>
          <a:effectLst>
            <a:outerShdw sx="100000" sy="100000" kx="0" ky="0" algn="bl" rotWithShape="0" blurRad="127000" dist="38100" dir="2700000">
              <a:srgbClr val="1E2761">
                <a:alpha val="12000"/>
              </a:srgbClr>
            </a:outerShdw>
          </a:effectLst>
        </p:spPr>
      </p:sp>
      <p:sp>
        <p:nvSpPr>
          <p:cNvPr id="18" name="Text 16"/>
          <p:cNvSpPr/>
          <p:nvPr/>
        </p:nvSpPr>
        <p:spPr>
          <a:xfrm>
            <a:off x="6583680" y="1874520"/>
            <a:ext cx="484632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Monthly Visits, Mar–May 2026 (M)</a:t>
            </a:r>
            <a:endParaRPr lang="en-US" sz="1200" dirty="0"/>
          </a:p>
        </p:txBody>
      </p:sp>
      <p:graphicFrame>
        <p:nvGraphicFramePr>
          <p:cNvPr id="19" name="Chart 0" descr=""/>
          <p:cNvGraphicFramePr/>
          <p:nvPr/>
        </p:nvGraphicFramePr>
        <p:xfrm>
          <a:off x="6492240" y="228600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4</a:t>
            </a:r>
            <a:endParaRPr lang="en-US" sz="1000" dirty="0"/>
          </a:p>
        </p:txBody>
      </p:sp>
      <p:sp>
        <p:nvSpPr>
          <p:cNvPr id="21" name="Text 18"/>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C"/>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8891B5"/>
                </a:solidFill>
                <a:latin typeface="Calibri" pitchFamily="34" charset="0"/>
                <a:ea typeface="Calibri" pitchFamily="34" charset="-122"/>
                <a:cs typeface="Calibri" pitchFamily="34" charset="-120"/>
              </a:rPr>
              <a:t>MARKET SEGMENT &amp; COMPETITIVE LANDSCAPE</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400" b="1" dirty="0">
                <a:solidFill>
                  <a:srgbClr val="1E2761"/>
                </a:solidFill>
                <a:latin typeface="Calibri" pitchFamily="34" charset="0"/>
                <a:ea typeface="Calibri" pitchFamily="34" charset="-122"/>
                <a:cs typeface="Calibri" pitchFamily="34" charset="-120"/>
              </a:rPr>
              <a:t>No pure-play model wins this market — Spinny is betting the hybrid of owned trust and asset-light growth will.</a:t>
            </a:r>
            <a:endParaRPr lang="en-US" sz="2400" dirty="0"/>
          </a:p>
        </p:txBody>
      </p:sp>
      <p:sp>
        <p:nvSpPr>
          <p:cNvPr id="4" name="Text 2"/>
          <p:cNvSpPr/>
          <p:nvPr/>
        </p:nvSpPr>
        <p:spPr>
          <a:xfrm>
            <a:off x="548640" y="1874520"/>
            <a:ext cx="11064240" cy="502920"/>
          </a:xfrm>
          <a:prstGeom prst="rect">
            <a:avLst/>
          </a:prstGeom>
          <a:noFill/>
          <a:ln/>
        </p:spPr>
        <p:txBody>
          <a:bodyPr wrap="square" lIns="0" tIns="0" rIns="0" bIns="0" rtlCol="0" anchor="ctr"/>
          <a:lstStyle/>
          <a:p>
            <a:pPr indent="0" marL="0">
              <a:lnSpc>
                <a:spcPct val="120000"/>
              </a:lnSpc>
              <a:buNone/>
            </a:pPr>
            <a:r>
              <a:rPr lang="en-US" sz="1200" dirty="0">
                <a:solidFill>
                  <a:srgbClr val="1A1A1A"/>
                </a:solidFill>
                <a:latin typeface="Calibri" pitchFamily="34" charset="0"/>
                <a:ea typeface="Calibri" pitchFamily="34" charset="-122"/>
                <a:cs typeface="Calibri" pitchFamily="34" charset="-120"/>
              </a:rPr>
              <a:t>OLX Autos proved pure transaction-light models fail on unit economics. CarDekho proves asset-light can be profitable — but without ownership, it can’t guarantee trust.</a:t>
            </a:r>
            <a:endParaRPr lang="en-US" sz="1200" dirty="0"/>
          </a:p>
        </p:txBody>
      </p:sp>
      <p:sp>
        <p:nvSpPr>
          <p:cNvPr id="5" name="Shape 3"/>
          <p:cNvSpPr/>
          <p:nvPr/>
        </p:nvSpPr>
        <p:spPr>
          <a:xfrm>
            <a:off x="548640" y="2514600"/>
            <a:ext cx="11064240" cy="411480"/>
          </a:xfrm>
          <a:prstGeom prst="rect">
            <a:avLst/>
          </a:prstGeom>
          <a:solidFill>
            <a:srgbClr val="1E2761"/>
          </a:solidFill>
          <a:ln/>
        </p:spPr>
      </p:sp>
      <p:sp>
        <p:nvSpPr>
          <p:cNvPr id="6" name="Text 4"/>
          <p:cNvSpPr/>
          <p:nvPr/>
        </p:nvSpPr>
        <p:spPr>
          <a:xfrm>
            <a:off x="658368" y="2514600"/>
            <a:ext cx="219456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Company</a:t>
            </a:r>
            <a:endParaRPr lang="en-US" sz="1100" dirty="0"/>
          </a:p>
        </p:txBody>
      </p:sp>
      <p:sp>
        <p:nvSpPr>
          <p:cNvPr id="7" name="Text 5"/>
          <p:cNvSpPr/>
          <p:nvPr/>
        </p:nvSpPr>
        <p:spPr>
          <a:xfrm>
            <a:off x="3035808" y="2514600"/>
            <a:ext cx="39319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Positioning</a:t>
            </a:r>
            <a:endParaRPr lang="en-US" sz="1100" dirty="0"/>
          </a:p>
        </p:txBody>
      </p:sp>
      <p:sp>
        <p:nvSpPr>
          <p:cNvPr id="8" name="Text 6"/>
          <p:cNvSpPr/>
          <p:nvPr/>
        </p:nvSpPr>
        <p:spPr>
          <a:xfrm>
            <a:off x="7150608" y="2514600"/>
            <a:ext cx="438912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Difference from Spinny</a:t>
            </a:r>
            <a:endParaRPr lang="en-US" sz="1100" dirty="0"/>
          </a:p>
        </p:txBody>
      </p:sp>
      <p:sp>
        <p:nvSpPr>
          <p:cNvPr id="9" name="Shape 7"/>
          <p:cNvSpPr/>
          <p:nvPr/>
        </p:nvSpPr>
        <p:spPr>
          <a:xfrm>
            <a:off x="548640" y="2926080"/>
            <a:ext cx="11064240" cy="603504"/>
          </a:xfrm>
          <a:prstGeom prst="rect">
            <a:avLst/>
          </a:prstGeom>
          <a:solidFill>
            <a:srgbClr val="E7ECFA"/>
          </a:solidFill>
          <a:ln w="6350">
            <a:solidFill>
              <a:srgbClr val="E2E8F0"/>
            </a:solidFill>
            <a:prstDash val="solid"/>
          </a:ln>
        </p:spPr>
      </p:sp>
      <p:sp>
        <p:nvSpPr>
          <p:cNvPr id="10" name="Text 8"/>
          <p:cNvSpPr/>
          <p:nvPr/>
        </p:nvSpPr>
        <p:spPr>
          <a:xfrm>
            <a:off x="658368" y="2926080"/>
            <a:ext cx="2194560" cy="603504"/>
          </a:xfrm>
          <a:prstGeom prst="rect">
            <a:avLst/>
          </a:prstGeom>
          <a:noFill/>
          <a:ln/>
        </p:spPr>
        <p:txBody>
          <a:bodyPr wrap="square" lIns="0" tIns="0" rIns="0" bIns="0" rtlCol="0" anchor="ctr"/>
          <a:lstStyle/>
          <a:p>
            <a:pPr indent="0" marL="0">
              <a:lnSpc>
                <a:spcPct val="110000"/>
              </a:lnSpc>
              <a:buNone/>
            </a:pPr>
            <a:r>
              <a:rPr lang="en-US" sz="1000" b="1" dirty="0">
                <a:solidFill>
                  <a:srgbClr val="1E2761"/>
                </a:solidFill>
                <a:latin typeface="Calibri" pitchFamily="34" charset="0"/>
                <a:ea typeface="Calibri" pitchFamily="34" charset="-122"/>
                <a:cs typeface="Calibri" pitchFamily="34" charset="-120"/>
              </a:rPr>
              <a:t>Spinny (focal)</a:t>
            </a:r>
            <a:endParaRPr lang="en-US" sz="1000" dirty="0"/>
          </a:p>
        </p:txBody>
      </p:sp>
      <p:sp>
        <p:nvSpPr>
          <p:cNvPr id="11" name="Text 9"/>
          <p:cNvSpPr/>
          <p:nvPr/>
        </p:nvSpPr>
        <p:spPr>
          <a:xfrm>
            <a:off x="3035808" y="2926080"/>
            <a:ext cx="39319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Premium full-stack trust, owned inventory</a:t>
            </a:r>
            <a:endParaRPr lang="en-US" sz="1000" dirty="0"/>
          </a:p>
        </p:txBody>
      </p:sp>
      <p:sp>
        <p:nvSpPr>
          <p:cNvPr id="12" name="Text 10"/>
          <p:cNvSpPr/>
          <p:nvPr/>
        </p:nvSpPr>
        <p:spPr>
          <a:xfrm>
            <a:off x="7150608" y="2926080"/>
            <a:ext cx="43891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Depth over breadth — ~22 cities, lifecycle monetisation</a:t>
            </a:r>
            <a:endParaRPr lang="en-US" sz="1000" dirty="0"/>
          </a:p>
        </p:txBody>
      </p:sp>
      <p:sp>
        <p:nvSpPr>
          <p:cNvPr id="13" name="Shape 11"/>
          <p:cNvSpPr/>
          <p:nvPr/>
        </p:nvSpPr>
        <p:spPr>
          <a:xfrm>
            <a:off x="548640" y="3529584"/>
            <a:ext cx="11064240" cy="603504"/>
          </a:xfrm>
          <a:prstGeom prst="rect">
            <a:avLst/>
          </a:prstGeom>
          <a:solidFill>
            <a:srgbClr val="FFFFFF"/>
          </a:solidFill>
          <a:ln w="6350">
            <a:solidFill>
              <a:srgbClr val="E2E8F0"/>
            </a:solidFill>
            <a:prstDash val="solid"/>
          </a:ln>
        </p:spPr>
      </p:sp>
      <p:sp>
        <p:nvSpPr>
          <p:cNvPr id="14" name="Text 12"/>
          <p:cNvSpPr/>
          <p:nvPr/>
        </p:nvSpPr>
        <p:spPr>
          <a:xfrm>
            <a:off x="658368" y="3529584"/>
            <a:ext cx="2194560" cy="603504"/>
          </a:xfrm>
          <a:prstGeom prst="rect">
            <a:avLst/>
          </a:prstGeom>
          <a:noFill/>
          <a:ln/>
        </p:spPr>
        <p:txBody>
          <a:bodyPr wrap="square" lIns="0" tIns="0" rIns="0" bIns="0" rtlCol="0" anchor="ctr"/>
          <a:lstStyle/>
          <a:p>
            <a:pPr indent="0" marL="0">
              <a:lnSpc>
                <a:spcPct val="110000"/>
              </a:lnSpc>
              <a:buNone/>
            </a:pPr>
            <a:r>
              <a:rPr lang="en-US" sz="1000" b="1" dirty="0">
                <a:solidFill>
                  <a:srgbClr val="1E2761"/>
                </a:solidFill>
                <a:latin typeface="Calibri" pitchFamily="34" charset="0"/>
                <a:ea typeface="Calibri" pitchFamily="34" charset="-122"/>
                <a:cs typeface="Calibri" pitchFamily="34" charset="-120"/>
              </a:rPr>
              <a:t>Cars24</a:t>
            </a:r>
            <a:endParaRPr lang="en-US" sz="1000" dirty="0"/>
          </a:p>
        </p:txBody>
      </p:sp>
      <p:sp>
        <p:nvSpPr>
          <p:cNvPr id="15" name="Text 13"/>
          <p:cNvSpPr/>
          <p:nvPr/>
        </p:nvSpPr>
        <p:spPr>
          <a:xfrm>
            <a:off x="3035808" y="3529584"/>
            <a:ext cx="39319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Scale full-stack retailer, owned inventory</a:t>
            </a:r>
            <a:endParaRPr lang="en-US" sz="1000" dirty="0"/>
          </a:p>
        </p:txBody>
      </p:sp>
      <p:sp>
        <p:nvSpPr>
          <p:cNvPr id="16" name="Text 14"/>
          <p:cNvSpPr/>
          <p:nvPr/>
        </p:nvSpPr>
        <p:spPr>
          <a:xfrm>
            <a:off x="7150608" y="3529584"/>
            <a:ext cx="43891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130+ cities &amp; international; higher volume, thinner trust premium</a:t>
            </a:r>
            <a:endParaRPr lang="en-US" sz="1000" dirty="0"/>
          </a:p>
        </p:txBody>
      </p:sp>
      <p:sp>
        <p:nvSpPr>
          <p:cNvPr id="17" name="Shape 15"/>
          <p:cNvSpPr/>
          <p:nvPr/>
        </p:nvSpPr>
        <p:spPr>
          <a:xfrm>
            <a:off x="548640" y="4133088"/>
            <a:ext cx="11064240" cy="603504"/>
          </a:xfrm>
          <a:prstGeom prst="rect">
            <a:avLst/>
          </a:prstGeom>
          <a:solidFill>
            <a:srgbClr val="F4F6FC"/>
          </a:solidFill>
          <a:ln w="6350">
            <a:solidFill>
              <a:srgbClr val="E2E8F0"/>
            </a:solidFill>
            <a:prstDash val="solid"/>
          </a:ln>
        </p:spPr>
      </p:sp>
      <p:sp>
        <p:nvSpPr>
          <p:cNvPr id="18" name="Text 16"/>
          <p:cNvSpPr/>
          <p:nvPr/>
        </p:nvSpPr>
        <p:spPr>
          <a:xfrm>
            <a:off x="658368" y="4133088"/>
            <a:ext cx="2194560" cy="603504"/>
          </a:xfrm>
          <a:prstGeom prst="rect">
            <a:avLst/>
          </a:prstGeom>
          <a:noFill/>
          <a:ln/>
        </p:spPr>
        <p:txBody>
          <a:bodyPr wrap="square" lIns="0" tIns="0" rIns="0" bIns="0" rtlCol="0" anchor="ctr"/>
          <a:lstStyle/>
          <a:p>
            <a:pPr indent="0" marL="0">
              <a:lnSpc>
                <a:spcPct val="110000"/>
              </a:lnSpc>
              <a:buNone/>
            </a:pPr>
            <a:r>
              <a:rPr lang="en-US" sz="1000" b="1" dirty="0">
                <a:solidFill>
                  <a:srgbClr val="1E2761"/>
                </a:solidFill>
                <a:latin typeface="Calibri" pitchFamily="34" charset="0"/>
                <a:ea typeface="Calibri" pitchFamily="34" charset="-122"/>
                <a:cs typeface="Calibri" pitchFamily="34" charset="-120"/>
              </a:rPr>
              <a:t>CarDekho</a:t>
            </a:r>
            <a:endParaRPr lang="en-US" sz="1000" dirty="0"/>
          </a:p>
        </p:txBody>
      </p:sp>
      <p:sp>
        <p:nvSpPr>
          <p:cNvPr id="19" name="Text 17"/>
          <p:cNvSpPr/>
          <p:nvPr/>
        </p:nvSpPr>
        <p:spPr>
          <a:xfrm>
            <a:off x="3035808" y="4133088"/>
            <a:ext cx="39319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Asset-light classifieds + fintech (Rupyy)</a:t>
            </a:r>
            <a:endParaRPr lang="en-US" sz="1000" dirty="0"/>
          </a:p>
        </p:txBody>
      </p:sp>
      <p:sp>
        <p:nvSpPr>
          <p:cNvPr id="20" name="Text 18"/>
          <p:cNvSpPr/>
          <p:nvPr/>
        </p:nvSpPr>
        <p:spPr>
          <a:xfrm>
            <a:off x="7150608" y="4133088"/>
            <a:ext cx="43891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No inventory ownership; profitable core, dominant organic SEO</a:t>
            </a:r>
            <a:endParaRPr lang="en-US" sz="1000" dirty="0"/>
          </a:p>
        </p:txBody>
      </p:sp>
      <p:sp>
        <p:nvSpPr>
          <p:cNvPr id="21" name="Shape 19"/>
          <p:cNvSpPr/>
          <p:nvPr/>
        </p:nvSpPr>
        <p:spPr>
          <a:xfrm>
            <a:off x="548640" y="4736592"/>
            <a:ext cx="11064240" cy="603504"/>
          </a:xfrm>
          <a:prstGeom prst="rect">
            <a:avLst/>
          </a:prstGeom>
          <a:solidFill>
            <a:srgbClr val="FFFFFF"/>
          </a:solidFill>
          <a:ln w="6350">
            <a:solidFill>
              <a:srgbClr val="E2E8F0"/>
            </a:solidFill>
            <a:prstDash val="solid"/>
          </a:ln>
        </p:spPr>
      </p:sp>
      <p:sp>
        <p:nvSpPr>
          <p:cNvPr id="22" name="Text 20"/>
          <p:cNvSpPr/>
          <p:nvPr/>
        </p:nvSpPr>
        <p:spPr>
          <a:xfrm>
            <a:off x="658368" y="4736592"/>
            <a:ext cx="2194560" cy="603504"/>
          </a:xfrm>
          <a:prstGeom prst="rect">
            <a:avLst/>
          </a:prstGeom>
          <a:noFill/>
          <a:ln/>
        </p:spPr>
        <p:txBody>
          <a:bodyPr wrap="square" lIns="0" tIns="0" rIns="0" bIns="0" rtlCol="0" anchor="ctr"/>
          <a:lstStyle/>
          <a:p>
            <a:pPr indent="0" marL="0">
              <a:lnSpc>
                <a:spcPct val="110000"/>
              </a:lnSpc>
              <a:buNone/>
            </a:pPr>
            <a:r>
              <a:rPr lang="en-US" sz="1000" b="1" dirty="0">
                <a:solidFill>
                  <a:srgbClr val="1E2761"/>
                </a:solidFill>
                <a:latin typeface="Calibri" pitchFamily="34" charset="0"/>
                <a:ea typeface="Calibri" pitchFamily="34" charset="-122"/>
                <a:cs typeface="Calibri" pitchFamily="34" charset="-120"/>
              </a:rPr>
              <a:t>OLX Autos / CarTrade</a:t>
            </a:r>
            <a:endParaRPr lang="en-US" sz="1000" dirty="0"/>
          </a:p>
        </p:txBody>
      </p:sp>
      <p:sp>
        <p:nvSpPr>
          <p:cNvPr id="23" name="Text 21"/>
          <p:cNvSpPr/>
          <p:nvPr/>
        </p:nvSpPr>
        <p:spPr>
          <a:xfrm>
            <a:off x="3035808" y="4736592"/>
            <a:ext cx="39319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Classifieds; C2B transactions exited 2023</a:t>
            </a:r>
            <a:endParaRPr lang="en-US" sz="1000" dirty="0"/>
          </a:p>
        </p:txBody>
      </p:sp>
      <p:sp>
        <p:nvSpPr>
          <p:cNvPr id="24" name="Text 22"/>
          <p:cNvSpPr/>
          <p:nvPr/>
        </p:nvSpPr>
        <p:spPr>
          <a:xfrm>
            <a:off x="7150608" y="4736592"/>
            <a:ext cx="43891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Shut its owned-transaction business on unit economics — cautionary case</a:t>
            </a:r>
            <a:endParaRPr lang="en-US" sz="1000" dirty="0"/>
          </a:p>
        </p:txBody>
      </p:sp>
      <p:sp>
        <p:nvSpPr>
          <p:cNvPr id="25" name="Shape 23"/>
          <p:cNvSpPr/>
          <p:nvPr/>
        </p:nvSpPr>
        <p:spPr>
          <a:xfrm>
            <a:off x="548640" y="5340096"/>
            <a:ext cx="11064240" cy="603504"/>
          </a:xfrm>
          <a:prstGeom prst="rect">
            <a:avLst/>
          </a:prstGeom>
          <a:solidFill>
            <a:srgbClr val="F4F6FC"/>
          </a:solidFill>
          <a:ln w="6350">
            <a:solidFill>
              <a:srgbClr val="E2E8F0"/>
            </a:solidFill>
            <a:prstDash val="solid"/>
          </a:ln>
        </p:spPr>
      </p:sp>
      <p:sp>
        <p:nvSpPr>
          <p:cNvPr id="26" name="Text 24"/>
          <p:cNvSpPr/>
          <p:nvPr/>
        </p:nvSpPr>
        <p:spPr>
          <a:xfrm>
            <a:off x="658368" y="5340096"/>
            <a:ext cx="2194560" cy="603504"/>
          </a:xfrm>
          <a:prstGeom prst="rect">
            <a:avLst/>
          </a:prstGeom>
          <a:noFill/>
          <a:ln/>
        </p:spPr>
        <p:txBody>
          <a:bodyPr wrap="square" lIns="0" tIns="0" rIns="0" bIns="0" rtlCol="0" anchor="ctr"/>
          <a:lstStyle/>
          <a:p>
            <a:pPr indent="0" marL="0">
              <a:lnSpc>
                <a:spcPct val="110000"/>
              </a:lnSpc>
              <a:buNone/>
            </a:pPr>
            <a:r>
              <a:rPr lang="en-US" sz="1000" b="1" dirty="0">
                <a:solidFill>
                  <a:srgbClr val="1E2761"/>
                </a:solidFill>
                <a:latin typeface="Calibri" pitchFamily="34" charset="0"/>
                <a:ea typeface="Calibri" pitchFamily="34" charset="-122"/>
                <a:cs typeface="Calibri" pitchFamily="34" charset="-120"/>
              </a:rPr>
              <a:t>Maruti True Value</a:t>
            </a:r>
            <a:endParaRPr lang="en-US" sz="1000" dirty="0"/>
          </a:p>
        </p:txBody>
      </p:sp>
      <p:sp>
        <p:nvSpPr>
          <p:cNvPr id="27" name="Text 25"/>
          <p:cNvSpPr/>
          <p:nvPr/>
        </p:nvSpPr>
        <p:spPr>
          <a:xfrm>
            <a:off x="3035808" y="5340096"/>
            <a:ext cx="39319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OEM single-brand certified programme</a:t>
            </a:r>
            <a:endParaRPr lang="en-US" sz="1000" dirty="0"/>
          </a:p>
        </p:txBody>
      </p:sp>
      <p:sp>
        <p:nvSpPr>
          <p:cNvPr id="28" name="Text 26"/>
          <p:cNvSpPr/>
          <p:nvPr/>
        </p:nvSpPr>
        <p:spPr>
          <a:xfrm>
            <a:off x="7150608" y="5340096"/>
            <a:ext cx="4389120" cy="603504"/>
          </a:xfrm>
          <a:prstGeom prst="rect">
            <a:avLst/>
          </a:prstGeom>
          <a:noFill/>
          <a:ln/>
        </p:spPr>
        <p:txBody>
          <a:bodyPr wrap="square" lIns="0" tIns="0" rIns="0" bIns="0" rtlCol="0" anchor="ctr"/>
          <a:lstStyle/>
          <a:p>
            <a:pPr indent="0" marL="0">
              <a:lnSpc>
                <a:spcPct val="110000"/>
              </a:lnSpc>
              <a:buNone/>
            </a:pPr>
            <a:r>
              <a:rPr lang="en-US" sz="1000" dirty="0">
                <a:solidFill>
                  <a:srgbClr val="1A1A1A"/>
                </a:solidFill>
                <a:latin typeface="Calibri" pitchFamily="34" charset="0"/>
                <a:ea typeface="Calibri" pitchFamily="34" charset="-122"/>
                <a:cs typeface="Calibri" pitchFamily="34" charset="-120"/>
              </a:rPr>
              <a:t>Offline-led, single-brand inventory; strongest after-sales trust</a:t>
            </a:r>
            <a:endParaRPr lang="en-US" sz="1000" dirty="0"/>
          </a:p>
        </p:txBody>
      </p:sp>
      <p:sp>
        <p:nvSpPr>
          <p:cNvPr id="29" name="Text 27"/>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5</a:t>
            </a:r>
            <a:endParaRPr lang="en-US" sz="1000" dirty="0"/>
          </a:p>
        </p:txBody>
      </p:sp>
      <p:sp>
        <p:nvSpPr>
          <p:cNvPr id="30" name="Text 28"/>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AEBBE8"/>
                </a:solidFill>
                <a:latin typeface="Calibri" pitchFamily="34" charset="0"/>
                <a:ea typeface="Calibri" pitchFamily="34" charset="-122"/>
                <a:cs typeface="Calibri" pitchFamily="34" charset="-120"/>
              </a:rPr>
              <a:t>STRATEGIC INSIGHTS</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700" b="1" dirty="0">
                <a:solidFill>
                  <a:srgbClr val="FFFFFF"/>
                </a:solidFill>
                <a:latin typeface="Calibri" pitchFamily="34" charset="0"/>
                <a:ea typeface="Calibri" pitchFamily="34" charset="-122"/>
                <a:cs typeface="Calibri" pitchFamily="34" charset="-120"/>
              </a:rPr>
              <a:t>Spinny has already won the market position. What’s unproven is whether the balance sheet can survive the win.</a:t>
            </a:r>
            <a:endParaRPr lang="en-US" sz="2700" dirty="0"/>
          </a:p>
        </p:txBody>
      </p:sp>
      <p:sp>
        <p:nvSpPr>
          <p:cNvPr id="4" name="Text 2"/>
          <p:cNvSpPr/>
          <p:nvPr/>
        </p:nvSpPr>
        <p:spPr>
          <a:xfrm>
            <a:off x="548640" y="2103120"/>
            <a:ext cx="11064240" cy="685800"/>
          </a:xfrm>
          <a:prstGeom prst="rect">
            <a:avLst/>
          </a:prstGeom>
          <a:noFill/>
          <a:ln/>
        </p:spPr>
        <p:txBody>
          <a:bodyPr wrap="square" lIns="0" tIns="0" rIns="0" bIns="0" rtlCol="0" anchor="ctr"/>
          <a:lstStyle/>
          <a:p>
            <a:pPr indent="0" marL="0">
              <a:lnSpc>
                <a:spcPct val="125000"/>
              </a:lnSpc>
              <a:buNone/>
            </a:pPr>
            <a:r>
              <a:rPr lang="en-US" sz="1250" dirty="0">
                <a:solidFill>
                  <a:srgbClr val="D9E2FA"/>
                </a:solidFill>
                <a:latin typeface="Calibri" pitchFamily="34" charset="0"/>
                <a:ea typeface="Calibri" pitchFamily="34" charset="-122"/>
                <a:cs typeface="Calibri" pitchFamily="34" charset="-120"/>
              </a:rPr>
              <a:t>Category leadership in premium-trust used cars is secured. The open question heading into IPO is narrower: can an inventory-heavy, capital-intensive model convert that leadership into sustainable profit — before public markets demand proof?</a:t>
            </a:r>
            <a:endParaRPr lang="en-US" sz="1250" dirty="0"/>
          </a:p>
        </p:txBody>
      </p:sp>
      <p:sp>
        <p:nvSpPr>
          <p:cNvPr id="5" name="Shape 3"/>
          <p:cNvSpPr/>
          <p:nvPr/>
        </p:nvSpPr>
        <p:spPr>
          <a:xfrm>
            <a:off x="548640" y="3063240"/>
            <a:ext cx="5440680" cy="3154680"/>
          </a:xfrm>
          <a:prstGeom prst="roundRect">
            <a:avLst>
              <a:gd name="adj" fmla="val 2319"/>
            </a:avLst>
          </a:prstGeom>
          <a:solidFill>
            <a:srgbClr val="232C6B"/>
          </a:solidFill>
          <a:ln/>
        </p:spPr>
      </p:sp>
      <p:sp>
        <p:nvSpPr>
          <p:cNvPr id="6" name="Shape 4"/>
          <p:cNvSpPr/>
          <p:nvPr/>
        </p:nvSpPr>
        <p:spPr>
          <a:xfrm>
            <a:off x="868680" y="3337560"/>
            <a:ext cx="320040" cy="54864"/>
          </a:xfrm>
          <a:prstGeom prst="rect">
            <a:avLst/>
          </a:prstGeom>
          <a:solidFill>
            <a:srgbClr val="1E8F6F"/>
          </a:solidFill>
          <a:ln/>
        </p:spPr>
      </p:sp>
      <p:sp>
        <p:nvSpPr>
          <p:cNvPr id="7" name="Text 5"/>
          <p:cNvSpPr/>
          <p:nvPr/>
        </p:nvSpPr>
        <p:spPr>
          <a:xfrm>
            <a:off x="868680" y="3429000"/>
            <a:ext cx="36576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Bull Case</a:t>
            </a:r>
            <a:endParaRPr lang="en-US" sz="1500" dirty="0"/>
          </a:p>
        </p:txBody>
      </p:sp>
      <p:sp>
        <p:nvSpPr>
          <p:cNvPr id="8" name="Text 6"/>
          <p:cNvSpPr/>
          <p:nvPr/>
        </p:nvSpPr>
        <p:spPr>
          <a:xfrm>
            <a:off x="868680" y="3886200"/>
            <a:ext cx="4846320" cy="2194560"/>
          </a:xfrm>
          <a:prstGeom prst="rect">
            <a:avLst/>
          </a:prstGeom>
          <a:noFill/>
          <a:ln/>
        </p:spPr>
        <p:txBody>
          <a:bodyPr wrap="square" rtlCol="0" anchor="ctr"/>
          <a:lstStyle/>
          <a:p>
            <a:pPr marL="342900" indent="-342900">
              <a:lnSpc>
                <a:spcPct val="115000"/>
              </a:lnSpc>
              <a:spcAft>
                <a:spcPts val="1000"/>
              </a:spcAft>
              <a:buSzPct val="100000"/>
              <a:buChar char="▪"/>
            </a:pPr>
            <a:r>
              <a:rPr lang="en-US" sz="1150" dirty="0">
                <a:solidFill>
                  <a:srgbClr val="D9E2FA"/>
                </a:solidFill>
                <a:latin typeface="Calibri" pitchFamily="34" charset="0"/>
                <a:ea typeface="Calibri" pitchFamily="34" charset="-122"/>
                <a:cs typeface="Calibri" pitchFamily="34" charset="-120"/>
              </a:rPr>
              <a:t>Most-funded player in category recently (~$340M, flat valuation = discipline)</a:t>
            </a:r>
            <a:endParaRPr lang="en-US" sz="1150" dirty="0"/>
          </a:p>
          <a:p>
            <a:pPr marL="342900" indent="-342900">
              <a:lnSpc>
                <a:spcPct val="115000"/>
              </a:lnSpc>
              <a:spcAft>
                <a:spcPts val="1000"/>
              </a:spcAft>
              <a:buSzPct val="100000"/>
              <a:buChar char="▪"/>
            </a:pPr>
            <a:r>
              <a:rPr lang="en-US" sz="1150" dirty="0">
                <a:solidFill>
                  <a:srgbClr val="D9E2FA"/>
                </a:solidFill>
                <a:latin typeface="Calibri" pitchFamily="34" charset="0"/>
                <a:ea typeface="Calibri" pitchFamily="34" charset="-122"/>
                <a:cs typeface="Calibri" pitchFamily="34" charset="-120"/>
              </a:rPr>
              <a:t>Two straight years of narrowing losses; revenue growing faster than cost</a:t>
            </a:r>
            <a:endParaRPr lang="en-US" sz="1150" dirty="0"/>
          </a:p>
          <a:p>
            <a:pPr marL="342900" indent="-342900">
              <a:lnSpc>
                <a:spcPct val="115000"/>
              </a:lnSpc>
              <a:spcAft>
                <a:spcPts val="1000"/>
              </a:spcAft>
              <a:buSzPct val="100000"/>
              <a:buChar char="▪"/>
            </a:pPr>
            <a:r>
              <a:rPr lang="en-US" sz="1150" dirty="0">
                <a:solidFill>
                  <a:srgbClr val="D9E2FA"/>
                </a:solidFill>
                <a:latin typeface="Calibri" pitchFamily="34" charset="0"/>
                <a:ea typeface="Calibri" pitchFamily="34" charset="-122"/>
                <a:cs typeface="Calibri" pitchFamily="34" charset="-120"/>
              </a:rPr>
              <a:t>Near-complete lifecycle ecosystem now resourced and live</a:t>
            </a:r>
            <a:endParaRPr lang="en-US" sz="1150" dirty="0"/>
          </a:p>
        </p:txBody>
      </p:sp>
      <p:sp>
        <p:nvSpPr>
          <p:cNvPr id="9" name="Shape 7"/>
          <p:cNvSpPr/>
          <p:nvPr/>
        </p:nvSpPr>
        <p:spPr>
          <a:xfrm>
            <a:off x="6309360" y="3063240"/>
            <a:ext cx="5440680" cy="3154680"/>
          </a:xfrm>
          <a:prstGeom prst="roundRect">
            <a:avLst>
              <a:gd name="adj" fmla="val 2319"/>
            </a:avLst>
          </a:prstGeom>
          <a:solidFill>
            <a:srgbClr val="232C6B"/>
          </a:solidFill>
          <a:ln/>
        </p:spPr>
      </p:sp>
      <p:sp>
        <p:nvSpPr>
          <p:cNvPr id="10" name="Shape 8"/>
          <p:cNvSpPr/>
          <p:nvPr/>
        </p:nvSpPr>
        <p:spPr>
          <a:xfrm>
            <a:off x="6629400" y="3337560"/>
            <a:ext cx="320040" cy="54864"/>
          </a:xfrm>
          <a:prstGeom prst="rect">
            <a:avLst/>
          </a:prstGeom>
          <a:solidFill>
            <a:srgbClr val="D64541"/>
          </a:solidFill>
          <a:ln/>
        </p:spPr>
      </p:sp>
      <p:sp>
        <p:nvSpPr>
          <p:cNvPr id="11" name="Text 9"/>
          <p:cNvSpPr/>
          <p:nvPr/>
        </p:nvSpPr>
        <p:spPr>
          <a:xfrm>
            <a:off x="6629400" y="3429000"/>
            <a:ext cx="36576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Bear Case</a:t>
            </a:r>
            <a:endParaRPr lang="en-US" sz="1500" dirty="0"/>
          </a:p>
        </p:txBody>
      </p:sp>
      <p:sp>
        <p:nvSpPr>
          <p:cNvPr id="12" name="Text 10"/>
          <p:cNvSpPr/>
          <p:nvPr/>
        </p:nvSpPr>
        <p:spPr>
          <a:xfrm>
            <a:off x="6629400" y="3886200"/>
            <a:ext cx="4846320" cy="2194560"/>
          </a:xfrm>
          <a:prstGeom prst="rect">
            <a:avLst/>
          </a:prstGeom>
          <a:noFill/>
          <a:ln/>
        </p:spPr>
        <p:txBody>
          <a:bodyPr wrap="square" rtlCol="0" anchor="ctr"/>
          <a:lstStyle/>
          <a:p>
            <a:pPr marL="342900" indent="-342900">
              <a:lnSpc>
                <a:spcPct val="115000"/>
              </a:lnSpc>
              <a:spcAft>
                <a:spcPts val="1000"/>
              </a:spcAft>
              <a:buSzPct val="100000"/>
              <a:buChar char="▪"/>
            </a:pPr>
            <a:r>
              <a:rPr lang="en-US" sz="1150" dirty="0">
                <a:solidFill>
                  <a:srgbClr val="D9E2FA"/>
                </a:solidFill>
                <a:latin typeface="Calibri" pitchFamily="34" charset="0"/>
                <a:ea typeface="Calibri" pitchFamily="34" charset="-122"/>
                <a:cs typeface="Calibri" pitchFamily="34" charset="-120"/>
              </a:rPr>
              <a:t>Capital- and inventory-heavy model with thin headline sale margins</a:t>
            </a:r>
            <a:endParaRPr lang="en-US" sz="1150" dirty="0"/>
          </a:p>
          <a:p>
            <a:pPr marL="342900" indent="-342900">
              <a:lnSpc>
                <a:spcPct val="115000"/>
              </a:lnSpc>
              <a:spcAft>
                <a:spcPts val="1000"/>
              </a:spcAft>
              <a:buSzPct val="100000"/>
              <a:buChar char="▪"/>
            </a:pPr>
            <a:r>
              <a:rPr lang="en-US" sz="1150" dirty="0">
                <a:solidFill>
                  <a:srgbClr val="D9E2FA"/>
                </a:solidFill>
                <a:latin typeface="Calibri" pitchFamily="34" charset="0"/>
                <a:ea typeface="Calibri" pitchFamily="34" charset="-122"/>
                <a:cs typeface="Calibri" pitchFamily="34" charset="-120"/>
              </a:rPr>
              <a:t>Post-sales service is a visible, unresolved weak point today</a:t>
            </a:r>
            <a:endParaRPr lang="en-US" sz="1150" dirty="0"/>
          </a:p>
          <a:p>
            <a:pPr marL="342900" indent="-342900">
              <a:lnSpc>
                <a:spcPct val="115000"/>
              </a:lnSpc>
              <a:spcAft>
                <a:spcPts val="1000"/>
              </a:spcAft>
              <a:buSzPct val="100000"/>
              <a:buChar char="▪"/>
            </a:pPr>
            <a:r>
              <a:rPr lang="en-US" sz="1150" dirty="0">
                <a:solidFill>
                  <a:srgbClr val="D9E2FA"/>
                </a:solidFill>
                <a:latin typeface="Calibri" pitchFamily="34" charset="0"/>
                <a:ea typeface="Calibri" pitchFamily="34" charset="-122"/>
                <a:cs typeface="Calibri" pitchFamily="34" charset="-120"/>
              </a:rPr>
              <a:t>In-house NBFC imports consumer-credit risk onto the balance sheet</a:t>
            </a:r>
            <a:endParaRPr lang="en-US" sz="1150" dirty="0"/>
          </a:p>
        </p:txBody>
      </p:sp>
      <p:sp>
        <p:nvSpPr>
          <p:cNvPr id="13" name="Text 11"/>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6</a:t>
            </a:r>
            <a:endParaRPr lang="en-US" sz="1000" dirty="0"/>
          </a:p>
        </p:txBody>
      </p:sp>
      <p:sp>
        <p:nvSpPr>
          <p:cNvPr id="14" name="Text 12"/>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C"/>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8891B5"/>
                </a:solidFill>
                <a:latin typeface="Calibri" pitchFamily="34" charset="0"/>
                <a:ea typeface="Calibri" pitchFamily="34" charset="-122"/>
                <a:cs typeface="Calibri" pitchFamily="34" charset="-120"/>
              </a:rPr>
              <a:t>PRODUCT RECOMMENDATIONS</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500" b="1" dirty="0">
                <a:solidFill>
                  <a:srgbClr val="1E2761"/>
                </a:solidFill>
                <a:latin typeface="Calibri" pitchFamily="34" charset="0"/>
                <a:ea typeface="Calibri" pitchFamily="34" charset="-122"/>
                <a:cs typeface="Calibri" pitchFamily="34" charset="-120"/>
              </a:rPr>
              <a:t>The biggest lever isn’t a new feature — it’s fixing what already exists so the rest of the product strategy can work.</a:t>
            </a:r>
            <a:endParaRPr lang="en-US" sz="2500" dirty="0"/>
          </a:p>
        </p:txBody>
      </p:sp>
      <p:sp>
        <p:nvSpPr>
          <p:cNvPr id="4" name="Shape 2"/>
          <p:cNvSpPr/>
          <p:nvPr/>
        </p:nvSpPr>
        <p:spPr>
          <a:xfrm>
            <a:off x="548640" y="2011680"/>
            <a:ext cx="5440680" cy="1874520"/>
          </a:xfrm>
          <a:prstGeom prst="roundRect">
            <a:avLst>
              <a:gd name="adj" fmla="val 3902"/>
            </a:avLst>
          </a:prstGeom>
          <a:solidFill>
            <a:srgbClr val="FFFFFF"/>
          </a:solidFill>
          <a:ln/>
          <a:effectLst>
            <a:outerShdw sx="100000" sy="100000" kx="0" ky="0" algn="bl" rotWithShape="0" blurRad="127000" dist="38100" dir="2700000">
              <a:srgbClr val="1E2761">
                <a:alpha val="12000"/>
              </a:srgbClr>
            </a:outerShdw>
          </a:effectLst>
        </p:spPr>
      </p:sp>
      <p:pic>
        <p:nvPicPr>
          <p:cNvPr id="5" name="Image 0" descr="preencoded.png">    </p:cNvPr>
          <p:cNvPicPr>
            <a:picLocks noChangeAspect="1"/>
          </p:cNvPicPr>
          <p:nvPr/>
        </p:nvPicPr>
        <p:blipFill>
          <a:blip r:embed="rId1"/>
          <a:stretch>
            <a:fillRect/>
          </a:stretch>
        </p:blipFill>
        <p:spPr>
          <a:xfrm>
            <a:off x="804672" y="2267712"/>
            <a:ext cx="457200" cy="457200"/>
          </a:xfrm>
          <a:prstGeom prst="rect">
            <a:avLst/>
          </a:prstGeom>
        </p:spPr>
      </p:pic>
      <p:sp>
        <p:nvSpPr>
          <p:cNvPr id="6" name="Text 3"/>
          <p:cNvSpPr/>
          <p:nvPr/>
        </p:nvSpPr>
        <p:spPr>
          <a:xfrm>
            <a:off x="1417320" y="2212848"/>
            <a:ext cx="4343400" cy="256032"/>
          </a:xfrm>
          <a:prstGeom prst="rect">
            <a:avLst/>
          </a:prstGeom>
          <a:noFill/>
          <a:ln/>
        </p:spPr>
        <p:txBody>
          <a:bodyPr wrap="square" lIns="0" tIns="0" rIns="0" bIns="0" rtlCol="0" anchor="ctr"/>
          <a:lstStyle/>
          <a:p>
            <a:pPr indent="0" marL="0">
              <a:buNone/>
            </a:pPr>
            <a:r>
              <a:rPr lang="en-US" sz="900" b="1" spc="150" kern="0" dirty="0">
                <a:solidFill>
                  <a:srgbClr val="C8932A"/>
                </a:solidFill>
                <a:latin typeface="Calibri" pitchFamily="34" charset="0"/>
                <a:ea typeface="Calibri" pitchFamily="34" charset="-122"/>
                <a:cs typeface="Calibri" pitchFamily="34" charset="-120"/>
              </a:rPr>
              <a:t>NEW FEATURE</a:t>
            </a:r>
            <a:endParaRPr lang="en-US" sz="900" dirty="0"/>
          </a:p>
        </p:txBody>
      </p:sp>
      <p:sp>
        <p:nvSpPr>
          <p:cNvPr id="7" name="Text 4"/>
          <p:cNvSpPr/>
          <p:nvPr/>
        </p:nvSpPr>
        <p:spPr>
          <a:xfrm>
            <a:off x="1417320" y="2450592"/>
            <a:ext cx="434340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Launch “Spinny Assured EV”</a:t>
            </a:r>
            <a:endParaRPr lang="en-US" sz="1350" dirty="0"/>
          </a:p>
        </p:txBody>
      </p:sp>
      <p:sp>
        <p:nvSpPr>
          <p:cNvPr id="8" name="Text 5"/>
          <p:cNvSpPr/>
          <p:nvPr/>
        </p:nvSpPr>
        <p:spPr>
          <a:xfrm>
            <a:off x="804672" y="2880360"/>
            <a:ext cx="4937760" cy="914400"/>
          </a:xfrm>
          <a:prstGeom prst="rect">
            <a:avLst/>
          </a:prstGeom>
          <a:noFill/>
          <a:ln/>
        </p:spPr>
        <p:txBody>
          <a:bodyPr wrap="square" lIns="0" tIns="0" rIns="0" bIns="0" rtlCol="0" anchor="ctr"/>
          <a:lstStyle/>
          <a:p>
            <a:pPr indent="0" marL="0">
              <a:lnSpc>
                <a:spcPct val="120000"/>
              </a:lnSpc>
              <a:buNone/>
            </a:pPr>
            <a:r>
              <a:rPr lang="en-US" sz="1000" dirty="0">
                <a:solidFill>
                  <a:srgbClr val="5A5A5A"/>
                </a:solidFill>
                <a:latin typeface="Calibri" pitchFamily="34" charset="0"/>
                <a:ea typeface="Calibri" pitchFamily="34" charset="-122"/>
                <a:cs typeface="Calibri" pitchFamily="34" charset="-120"/>
              </a:rPr>
              <a:t>Battery-health certification for used-EVs, built on existing Tesla/Nissan exchange rails. No competitor owns this trust standard yet.</a:t>
            </a:r>
            <a:endParaRPr lang="en-US" sz="1000" dirty="0"/>
          </a:p>
        </p:txBody>
      </p:sp>
      <p:sp>
        <p:nvSpPr>
          <p:cNvPr id="9" name="Shape 6"/>
          <p:cNvSpPr/>
          <p:nvPr/>
        </p:nvSpPr>
        <p:spPr>
          <a:xfrm>
            <a:off x="6172200" y="2011680"/>
            <a:ext cx="5440680" cy="1874520"/>
          </a:xfrm>
          <a:prstGeom prst="roundRect">
            <a:avLst>
              <a:gd name="adj" fmla="val 3902"/>
            </a:avLst>
          </a:prstGeom>
          <a:solidFill>
            <a:srgbClr val="FFFFFF"/>
          </a:solidFill>
          <a:ln/>
          <a:effectLst>
            <a:outerShdw sx="100000" sy="100000" kx="0" ky="0" algn="bl" rotWithShape="0" blurRad="127000" dist="38100" dir="2700000">
              <a:srgbClr val="1E2761">
                <a:alpha val="12000"/>
              </a:srgbClr>
            </a:outerShdw>
          </a:effectLst>
        </p:spPr>
      </p:sp>
      <p:pic>
        <p:nvPicPr>
          <p:cNvPr id="10" name="Image 1" descr="preencoded.png">    </p:cNvPr>
          <p:cNvPicPr>
            <a:picLocks noChangeAspect="1"/>
          </p:cNvPicPr>
          <p:nvPr/>
        </p:nvPicPr>
        <p:blipFill>
          <a:blip r:embed="rId2"/>
          <a:stretch>
            <a:fillRect/>
          </a:stretch>
        </p:blipFill>
        <p:spPr>
          <a:xfrm>
            <a:off x="6428232" y="2267712"/>
            <a:ext cx="457200" cy="457200"/>
          </a:xfrm>
          <a:prstGeom prst="rect">
            <a:avLst/>
          </a:prstGeom>
        </p:spPr>
      </p:pic>
      <p:sp>
        <p:nvSpPr>
          <p:cNvPr id="11" name="Text 7"/>
          <p:cNvSpPr/>
          <p:nvPr/>
        </p:nvSpPr>
        <p:spPr>
          <a:xfrm>
            <a:off x="7040880" y="2212848"/>
            <a:ext cx="4343400" cy="256032"/>
          </a:xfrm>
          <a:prstGeom prst="rect">
            <a:avLst/>
          </a:prstGeom>
          <a:noFill/>
          <a:ln/>
        </p:spPr>
        <p:txBody>
          <a:bodyPr wrap="square" lIns="0" tIns="0" rIns="0" bIns="0" rtlCol="0" anchor="ctr"/>
          <a:lstStyle/>
          <a:p>
            <a:pPr indent="0" marL="0">
              <a:buNone/>
            </a:pPr>
            <a:r>
              <a:rPr lang="en-US" sz="900" b="1" spc="150" kern="0" dirty="0">
                <a:solidFill>
                  <a:srgbClr val="C8932A"/>
                </a:solidFill>
                <a:latin typeface="Calibri" pitchFamily="34" charset="0"/>
                <a:ea typeface="Calibri" pitchFamily="34" charset="-122"/>
                <a:cs typeface="Calibri" pitchFamily="34" charset="-120"/>
              </a:rPr>
              <a:t>DIGITAL ACQUISITION</a:t>
            </a:r>
            <a:endParaRPr lang="en-US" sz="900" dirty="0"/>
          </a:p>
        </p:txBody>
      </p:sp>
      <p:sp>
        <p:nvSpPr>
          <p:cNvPr id="12" name="Text 8"/>
          <p:cNvSpPr/>
          <p:nvPr/>
        </p:nvSpPr>
        <p:spPr>
          <a:xfrm>
            <a:off x="7040880" y="2450592"/>
            <a:ext cx="434340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Point Autocar at commercial SEO</a:t>
            </a:r>
            <a:endParaRPr lang="en-US" sz="1350" dirty="0"/>
          </a:p>
        </p:txBody>
      </p:sp>
      <p:sp>
        <p:nvSpPr>
          <p:cNvPr id="13" name="Text 9"/>
          <p:cNvSpPr/>
          <p:nvPr/>
        </p:nvSpPr>
        <p:spPr>
          <a:xfrm>
            <a:off x="6428232" y="2880360"/>
            <a:ext cx="4937760" cy="914400"/>
          </a:xfrm>
          <a:prstGeom prst="rect">
            <a:avLst/>
          </a:prstGeom>
          <a:noFill/>
          <a:ln/>
        </p:spPr>
        <p:txBody>
          <a:bodyPr wrap="square" lIns="0" tIns="0" rIns="0" bIns="0" rtlCol="0" anchor="ctr"/>
          <a:lstStyle/>
          <a:p>
            <a:pPr indent="0" marL="0">
              <a:lnSpc>
                <a:spcPct val="120000"/>
              </a:lnSpc>
              <a:buNone/>
            </a:pPr>
            <a:r>
              <a:rPr lang="en-US" sz="1000" dirty="0">
                <a:solidFill>
                  <a:srgbClr val="5A5A5A"/>
                </a:solidFill>
                <a:latin typeface="Calibri" pitchFamily="34" charset="0"/>
                <a:ea typeface="Calibri" pitchFamily="34" charset="-122"/>
                <a:cs typeface="Calibri" pitchFamily="34" charset="-120"/>
              </a:rPr>
              <a:t>Redirect editorial authority toward non-brand, high-intent keywords to close the 37.3K-keyword gap versus CarDekho.</a:t>
            </a:r>
            <a:endParaRPr lang="en-US" sz="1000" dirty="0"/>
          </a:p>
        </p:txBody>
      </p:sp>
      <p:sp>
        <p:nvSpPr>
          <p:cNvPr id="14" name="Shape 10"/>
          <p:cNvSpPr/>
          <p:nvPr/>
        </p:nvSpPr>
        <p:spPr>
          <a:xfrm>
            <a:off x="548640" y="4069080"/>
            <a:ext cx="5440680" cy="1874520"/>
          </a:xfrm>
          <a:prstGeom prst="roundRect">
            <a:avLst>
              <a:gd name="adj" fmla="val 3902"/>
            </a:avLst>
          </a:prstGeom>
          <a:solidFill>
            <a:srgbClr val="FFFFFF"/>
          </a:solidFill>
          <a:ln/>
          <a:effectLst>
            <a:outerShdw sx="100000" sy="100000" kx="0" ky="0" algn="bl" rotWithShape="0" blurRad="127000" dist="38100" dir="2700000">
              <a:srgbClr val="1E2761">
                <a:alpha val="12000"/>
              </a:srgbClr>
            </a:outerShdw>
          </a:effectLst>
        </p:spPr>
      </p:sp>
      <p:pic>
        <p:nvPicPr>
          <p:cNvPr id="15" name="Image 2" descr="preencoded.png">    </p:cNvPr>
          <p:cNvPicPr>
            <a:picLocks noChangeAspect="1"/>
          </p:cNvPicPr>
          <p:nvPr/>
        </p:nvPicPr>
        <p:blipFill>
          <a:blip r:embed="rId3"/>
          <a:stretch>
            <a:fillRect/>
          </a:stretch>
        </p:blipFill>
        <p:spPr>
          <a:xfrm>
            <a:off x="804672" y="4325112"/>
            <a:ext cx="457200" cy="457200"/>
          </a:xfrm>
          <a:prstGeom prst="rect">
            <a:avLst/>
          </a:prstGeom>
        </p:spPr>
      </p:pic>
      <p:sp>
        <p:nvSpPr>
          <p:cNvPr id="16" name="Text 11"/>
          <p:cNvSpPr/>
          <p:nvPr/>
        </p:nvSpPr>
        <p:spPr>
          <a:xfrm>
            <a:off x="1417320" y="4270248"/>
            <a:ext cx="4343400" cy="256032"/>
          </a:xfrm>
          <a:prstGeom prst="rect">
            <a:avLst/>
          </a:prstGeom>
          <a:noFill/>
          <a:ln/>
        </p:spPr>
        <p:txBody>
          <a:bodyPr wrap="square" lIns="0" tIns="0" rIns="0" bIns="0" rtlCol="0" anchor="ctr"/>
          <a:lstStyle/>
          <a:p>
            <a:pPr indent="0" marL="0">
              <a:buNone/>
            </a:pPr>
            <a:r>
              <a:rPr lang="en-US" sz="900" b="1" spc="150" kern="0" dirty="0">
                <a:solidFill>
                  <a:srgbClr val="C8932A"/>
                </a:solidFill>
                <a:latin typeface="Calibri" pitchFamily="34" charset="0"/>
                <a:ea typeface="Calibri" pitchFamily="34" charset="-122"/>
                <a:cs typeface="Calibri" pitchFamily="34" charset="-120"/>
              </a:rPr>
              <a:t>ECOSYSTEM</a:t>
            </a:r>
            <a:endParaRPr lang="en-US" sz="900" dirty="0"/>
          </a:p>
        </p:txBody>
      </p:sp>
      <p:sp>
        <p:nvSpPr>
          <p:cNvPr id="17" name="Text 12"/>
          <p:cNvSpPr/>
          <p:nvPr/>
        </p:nvSpPr>
        <p:spPr>
          <a:xfrm>
            <a:off x="1417320" y="4507992"/>
            <a:ext cx="434340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Sequence loyalty behind service fixes</a:t>
            </a:r>
            <a:endParaRPr lang="en-US" sz="1350" dirty="0"/>
          </a:p>
        </p:txBody>
      </p:sp>
      <p:sp>
        <p:nvSpPr>
          <p:cNvPr id="18" name="Text 13"/>
          <p:cNvSpPr/>
          <p:nvPr/>
        </p:nvSpPr>
        <p:spPr>
          <a:xfrm>
            <a:off x="804672" y="4937760"/>
            <a:ext cx="4937760" cy="914400"/>
          </a:xfrm>
          <a:prstGeom prst="rect">
            <a:avLst/>
          </a:prstGeom>
          <a:noFill/>
          <a:ln/>
        </p:spPr>
        <p:txBody>
          <a:bodyPr wrap="square" lIns="0" tIns="0" rIns="0" bIns="0" rtlCol="0" anchor="ctr"/>
          <a:lstStyle/>
          <a:p>
            <a:pPr indent="0" marL="0">
              <a:lnSpc>
                <a:spcPct val="120000"/>
              </a:lnSpc>
              <a:buNone/>
            </a:pPr>
            <a:r>
              <a:rPr lang="en-US" sz="1000" dirty="0">
                <a:solidFill>
                  <a:srgbClr val="5A5A5A"/>
                </a:solidFill>
                <a:latin typeface="Calibri" pitchFamily="34" charset="0"/>
                <a:ea typeface="Calibri" pitchFamily="34" charset="-122"/>
                <a:cs typeface="Calibri" pitchFamily="34" charset="-120"/>
              </a:rPr>
              <a:t>Formalise referral &amp; buy-back loyalty only after RC delays, warranty disputes and outbound-call complaints are resolved — launching earlier would amplify negative word-of-mouth.</a:t>
            </a:r>
            <a:endParaRPr lang="en-US" sz="1000" dirty="0"/>
          </a:p>
        </p:txBody>
      </p:sp>
      <p:sp>
        <p:nvSpPr>
          <p:cNvPr id="19" name="Shape 14"/>
          <p:cNvSpPr/>
          <p:nvPr/>
        </p:nvSpPr>
        <p:spPr>
          <a:xfrm>
            <a:off x="6172200" y="4069080"/>
            <a:ext cx="5440680" cy="1874520"/>
          </a:xfrm>
          <a:prstGeom prst="roundRect">
            <a:avLst>
              <a:gd name="adj" fmla="val 3902"/>
            </a:avLst>
          </a:prstGeom>
          <a:solidFill>
            <a:srgbClr val="FFFFFF"/>
          </a:solidFill>
          <a:ln/>
          <a:effectLst>
            <a:outerShdw sx="100000" sy="100000" kx="0" ky="0" algn="bl" rotWithShape="0" blurRad="127000" dist="38100" dir="2700000">
              <a:srgbClr val="1E2761">
                <a:alpha val="12000"/>
              </a:srgbClr>
            </a:outerShdw>
          </a:effectLst>
        </p:spPr>
      </p:sp>
      <p:pic>
        <p:nvPicPr>
          <p:cNvPr id="20" name="Image 3" descr="preencoded.png">    </p:cNvPr>
          <p:cNvPicPr>
            <a:picLocks noChangeAspect="1"/>
          </p:cNvPicPr>
          <p:nvPr/>
        </p:nvPicPr>
        <p:blipFill>
          <a:blip r:embed="rId4"/>
          <a:stretch>
            <a:fillRect/>
          </a:stretch>
        </p:blipFill>
        <p:spPr>
          <a:xfrm>
            <a:off x="6428232" y="4325112"/>
            <a:ext cx="457200" cy="457200"/>
          </a:xfrm>
          <a:prstGeom prst="rect">
            <a:avLst/>
          </a:prstGeom>
        </p:spPr>
      </p:pic>
      <p:sp>
        <p:nvSpPr>
          <p:cNvPr id="21" name="Text 15"/>
          <p:cNvSpPr/>
          <p:nvPr/>
        </p:nvSpPr>
        <p:spPr>
          <a:xfrm>
            <a:off x="7040880" y="4270248"/>
            <a:ext cx="4343400" cy="256032"/>
          </a:xfrm>
          <a:prstGeom prst="rect">
            <a:avLst/>
          </a:prstGeom>
          <a:noFill/>
          <a:ln/>
        </p:spPr>
        <p:txBody>
          <a:bodyPr wrap="square" lIns="0" tIns="0" rIns="0" bIns="0" rtlCol="0" anchor="ctr"/>
          <a:lstStyle/>
          <a:p>
            <a:pPr indent="0" marL="0">
              <a:buNone/>
            </a:pPr>
            <a:r>
              <a:rPr lang="en-US" sz="900" b="1" spc="150" kern="0" dirty="0">
                <a:solidFill>
                  <a:srgbClr val="C8932A"/>
                </a:solidFill>
                <a:latin typeface="Calibri" pitchFamily="34" charset="0"/>
                <a:ea typeface="Calibri" pitchFamily="34" charset="-122"/>
                <a:cs typeface="Calibri" pitchFamily="34" charset="-120"/>
              </a:rPr>
              <a:t>EXPANSION</a:t>
            </a:r>
            <a:endParaRPr lang="en-US" sz="900" dirty="0"/>
          </a:p>
        </p:txBody>
      </p:sp>
      <p:sp>
        <p:nvSpPr>
          <p:cNvPr id="22" name="Text 16"/>
          <p:cNvSpPr/>
          <p:nvPr/>
        </p:nvSpPr>
        <p:spPr>
          <a:xfrm>
            <a:off x="7040880" y="4507992"/>
            <a:ext cx="4343400" cy="3657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Use Spinny Circle for Tier-2/3 reach</a:t>
            </a:r>
            <a:endParaRPr lang="en-US" sz="1350" dirty="0"/>
          </a:p>
        </p:txBody>
      </p:sp>
      <p:sp>
        <p:nvSpPr>
          <p:cNvPr id="23" name="Text 17"/>
          <p:cNvSpPr/>
          <p:nvPr/>
        </p:nvSpPr>
        <p:spPr>
          <a:xfrm>
            <a:off x="6428232" y="4937760"/>
            <a:ext cx="4937760" cy="914400"/>
          </a:xfrm>
          <a:prstGeom prst="rect">
            <a:avLst/>
          </a:prstGeom>
          <a:noFill/>
          <a:ln/>
        </p:spPr>
        <p:txBody>
          <a:bodyPr wrap="square" lIns="0" tIns="0" rIns="0" bIns="0" rtlCol="0" anchor="ctr"/>
          <a:lstStyle/>
          <a:p>
            <a:pPr indent="0" marL="0">
              <a:lnSpc>
                <a:spcPct val="120000"/>
              </a:lnSpc>
              <a:buNone/>
            </a:pPr>
            <a:r>
              <a:rPr lang="en-US" sz="1000" dirty="0">
                <a:solidFill>
                  <a:srgbClr val="5A5A5A"/>
                </a:solidFill>
                <a:latin typeface="Calibri" pitchFamily="34" charset="0"/>
                <a:ea typeface="Calibri" pitchFamily="34" charset="-122"/>
                <a:cs typeface="Calibri" pitchFamily="34" charset="-120"/>
              </a:rPr>
              <a:t>Pair improved SEO traffic with dealer-network fulfilment to convert Tier-2/3 demand without proportional hub capex.</a:t>
            </a:r>
            <a:endParaRPr lang="en-US" sz="1000" dirty="0"/>
          </a:p>
        </p:txBody>
      </p:sp>
      <p:sp>
        <p:nvSpPr>
          <p:cNvPr id="24" name="Text 18"/>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7</a:t>
            </a:r>
            <a:endParaRPr lang="en-US" sz="1000" dirty="0"/>
          </a:p>
        </p:txBody>
      </p:sp>
      <p:sp>
        <p:nvSpPr>
          <p:cNvPr id="25" name="Text 19"/>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C"/>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8891B5"/>
                </a:solidFill>
                <a:latin typeface="Calibri" pitchFamily="34" charset="0"/>
                <a:ea typeface="Calibri" pitchFamily="34" charset="-122"/>
                <a:cs typeface="Calibri" pitchFamily="34" charset="-120"/>
              </a:rPr>
              <a:t>AI WORKFLOW — HOW THIS ANALYSIS WAS BUILT</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400" b="1" dirty="0">
                <a:solidFill>
                  <a:srgbClr val="1E2761"/>
                </a:solidFill>
                <a:latin typeface="Calibri" pitchFamily="34" charset="0"/>
                <a:ea typeface="Calibri" pitchFamily="34" charset="-122"/>
                <a:cs typeface="Calibri" pitchFamily="34" charset="-120"/>
              </a:rPr>
              <a:t>AI didn’t replace the analysis — it triangulated sources, flagged conflicts, and forced every judgement call to show its evidence.</a:t>
            </a:r>
            <a:endParaRPr lang="en-US" sz="2400" dirty="0"/>
          </a:p>
        </p:txBody>
      </p:sp>
      <p:sp>
        <p:nvSpPr>
          <p:cNvPr id="4" name="Shape 2"/>
          <p:cNvSpPr/>
          <p:nvPr/>
        </p:nvSpPr>
        <p:spPr>
          <a:xfrm>
            <a:off x="548640" y="2011680"/>
            <a:ext cx="3611880" cy="4160520"/>
          </a:xfrm>
          <a:prstGeom prst="roundRect">
            <a:avLst>
              <a:gd name="adj" fmla="val 2025"/>
            </a:avLst>
          </a:prstGeom>
          <a:solidFill>
            <a:srgbClr val="FFFFFF"/>
          </a:solidFill>
          <a:ln/>
          <a:effectLst>
            <a:outerShdw sx="100000" sy="100000" kx="0" ky="0" algn="bl" rotWithShape="0" blurRad="127000" dist="38100" dir="2700000">
              <a:srgbClr val="1E2761">
                <a:alpha val="12000"/>
              </a:srgbClr>
            </a:outerShdw>
          </a:effectLst>
        </p:spPr>
      </p:sp>
      <p:pic>
        <p:nvPicPr>
          <p:cNvPr id="5" name="Image 0" descr="preencoded.png">    </p:cNvPr>
          <p:cNvPicPr>
            <a:picLocks noChangeAspect="1"/>
          </p:cNvPicPr>
          <p:nvPr/>
        </p:nvPicPr>
        <p:blipFill>
          <a:blip r:embed="rId1"/>
          <a:stretch>
            <a:fillRect/>
          </a:stretch>
        </p:blipFill>
        <p:spPr>
          <a:xfrm>
            <a:off x="822960" y="2286000"/>
            <a:ext cx="457200" cy="457200"/>
          </a:xfrm>
          <a:prstGeom prst="rect">
            <a:avLst/>
          </a:prstGeom>
        </p:spPr>
      </p:pic>
      <p:sp>
        <p:nvSpPr>
          <p:cNvPr id="6" name="Text 3"/>
          <p:cNvSpPr/>
          <p:nvPr/>
        </p:nvSpPr>
        <p:spPr>
          <a:xfrm>
            <a:off x="1417320" y="2331720"/>
            <a:ext cx="251460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Tools &amp; Sources</a:t>
            </a:r>
            <a:endParaRPr lang="en-US" sz="1300" dirty="0"/>
          </a:p>
        </p:txBody>
      </p:sp>
      <p:sp>
        <p:nvSpPr>
          <p:cNvPr id="7" name="Text 4"/>
          <p:cNvSpPr/>
          <p:nvPr/>
        </p:nvSpPr>
        <p:spPr>
          <a:xfrm>
            <a:off x="822960" y="2971800"/>
            <a:ext cx="3063240" cy="3017520"/>
          </a:xfrm>
          <a:prstGeom prst="rect">
            <a:avLst/>
          </a:prstGeom>
          <a:noFill/>
          <a:ln/>
        </p:spPr>
        <p:txBody>
          <a:bodyPr wrap="square" rtlCol="0" anchor="ctr"/>
          <a:lstStyle/>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SimilarWeb: traffic, channel mix, keyword &amp; referrer data</a:t>
            </a:r>
            <a:endParaRPr lang="en-US" sz="1030" dirty="0"/>
          </a:p>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SEO/keyword exports (Semrush/SpyFu-style): organic &amp; paid gap analysis</a:t>
            </a:r>
            <a:endParaRPr lang="en-US" sz="1030" dirty="0"/>
          </a:p>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Financial press, funding databases, app-store reviews, hiring signals</a:t>
            </a:r>
            <a:endParaRPr lang="en-US" sz="1030" dirty="0"/>
          </a:p>
        </p:txBody>
      </p:sp>
      <p:sp>
        <p:nvSpPr>
          <p:cNvPr id="8" name="Shape 5"/>
          <p:cNvSpPr/>
          <p:nvPr/>
        </p:nvSpPr>
        <p:spPr>
          <a:xfrm>
            <a:off x="4270248" y="2011680"/>
            <a:ext cx="3611880" cy="4160520"/>
          </a:xfrm>
          <a:prstGeom prst="roundRect">
            <a:avLst>
              <a:gd name="adj" fmla="val 2025"/>
            </a:avLst>
          </a:prstGeom>
          <a:solidFill>
            <a:srgbClr val="FFFFFF"/>
          </a:solidFill>
          <a:ln/>
          <a:effectLst>
            <a:outerShdw sx="100000" sy="100000" kx="0" ky="0" algn="bl" rotWithShape="0" blurRad="127000" dist="38100" dir="2700000">
              <a:srgbClr val="1E2761">
                <a:alpha val="12000"/>
              </a:srgbClr>
            </a:outerShdw>
          </a:effectLst>
        </p:spPr>
      </p:sp>
      <p:pic>
        <p:nvPicPr>
          <p:cNvPr id="9" name="Image 1" descr="preencoded.png">    </p:cNvPr>
          <p:cNvPicPr>
            <a:picLocks noChangeAspect="1"/>
          </p:cNvPicPr>
          <p:nvPr/>
        </p:nvPicPr>
        <p:blipFill>
          <a:blip r:embed="rId2"/>
          <a:stretch>
            <a:fillRect/>
          </a:stretch>
        </p:blipFill>
        <p:spPr>
          <a:xfrm>
            <a:off x="4544568" y="2286000"/>
            <a:ext cx="457200" cy="457200"/>
          </a:xfrm>
          <a:prstGeom prst="rect">
            <a:avLst/>
          </a:prstGeom>
        </p:spPr>
      </p:pic>
      <p:sp>
        <p:nvSpPr>
          <p:cNvPr id="10" name="Text 6"/>
          <p:cNvSpPr/>
          <p:nvPr/>
        </p:nvSpPr>
        <p:spPr>
          <a:xfrm>
            <a:off x="5138928" y="2331720"/>
            <a:ext cx="251460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How AI Was Used</a:t>
            </a:r>
            <a:endParaRPr lang="en-US" sz="1300" dirty="0"/>
          </a:p>
        </p:txBody>
      </p:sp>
      <p:sp>
        <p:nvSpPr>
          <p:cNvPr id="11" name="Text 7"/>
          <p:cNvSpPr/>
          <p:nvPr/>
        </p:nvSpPr>
        <p:spPr>
          <a:xfrm>
            <a:off x="4544568" y="2971800"/>
            <a:ext cx="3063240" cy="3017520"/>
          </a:xfrm>
          <a:prstGeom prst="rect">
            <a:avLst/>
          </a:prstGeom>
          <a:noFill/>
          <a:ln/>
        </p:spPr>
        <p:txBody>
          <a:bodyPr wrap="square" rtlCol="0" anchor="ctr"/>
          <a:lstStyle/>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Synthesised multi-document research into a single, non-redundant narrative</a:t>
            </a:r>
            <a:endParaRPr lang="en-US" sz="1030" dirty="0"/>
          </a:p>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Labelled every claim as verified fact vs. interpretive signal</a:t>
            </a:r>
            <a:endParaRPr lang="en-US" sz="1030" dirty="0"/>
          </a:p>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Surfaced source conflicts (funding totals, city counts) instead of silently picking one</a:t>
            </a:r>
            <a:endParaRPr lang="en-US" sz="1030" dirty="0"/>
          </a:p>
        </p:txBody>
      </p:sp>
      <p:sp>
        <p:nvSpPr>
          <p:cNvPr id="12" name="Shape 8"/>
          <p:cNvSpPr/>
          <p:nvPr/>
        </p:nvSpPr>
        <p:spPr>
          <a:xfrm>
            <a:off x="7991856" y="2011680"/>
            <a:ext cx="3611880" cy="4160520"/>
          </a:xfrm>
          <a:prstGeom prst="roundRect">
            <a:avLst>
              <a:gd name="adj" fmla="val 2025"/>
            </a:avLst>
          </a:prstGeom>
          <a:solidFill>
            <a:srgbClr val="FFFFFF"/>
          </a:solidFill>
          <a:ln/>
          <a:effectLst>
            <a:outerShdw sx="100000" sy="100000" kx="0" ky="0" algn="bl" rotWithShape="0" blurRad="127000" dist="38100" dir="2700000">
              <a:srgbClr val="1E2761">
                <a:alpha val="12000"/>
              </a:srgbClr>
            </a:outerShdw>
          </a:effectLst>
        </p:spPr>
      </p:sp>
      <p:pic>
        <p:nvPicPr>
          <p:cNvPr id="13" name="Image 2" descr="preencoded.png">    </p:cNvPr>
          <p:cNvPicPr>
            <a:picLocks noChangeAspect="1"/>
          </p:cNvPicPr>
          <p:nvPr/>
        </p:nvPicPr>
        <p:blipFill>
          <a:blip r:embed="rId3"/>
          <a:stretch>
            <a:fillRect/>
          </a:stretch>
        </p:blipFill>
        <p:spPr>
          <a:xfrm>
            <a:off x="8266176" y="2286000"/>
            <a:ext cx="457200" cy="457200"/>
          </a:xfrm>
          <a:prstGeom prst="rect">
            <a:avLst/>
          </a:prstGeom>
        </p:spPr>
      </p:pic>
      <p:sp>
        <p:nvSpPr>
          <p:cNvPr id="14" name="Text 9"/>
          <p:cNvSpPr/>
          <p:nvPr/>
        </p:nvSpPr>
        <p:spPr>
          <a:xfrm>
            <a:off x="8860536" y="2331720"/>
            <a:ext cx="2514600" cy="4572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Gaps We Had to Flag</a:t>
            </a:r>
            <a:endParaRPr lang="en-US" sz="1300" dirty="0"/>
          </a:p>
        </p:txBody>
      </p:sp>
      <p:sp>
        <p:nvSpPr>
          <p:cNvPr id="15" name="Text 10"/>
          <p:cNvSpPr/>
          <p:nvPr/>
        </p:nvSpPr>
        <p:spPr>
          <a:xfrm>
            <a:off x="8266176" y="2971800"/>
            <a:ext cx="3063240" cy="3017520"/>
          </a:xfrm>
          <a:prstGeom prst="rect">
            <a:avLst/>
          </a:prstGeom>
          <a:noFill/>
          <a:ln/>
        </p:spPr>
        <p:txBody>
          <a:bodyPr wrap="square" rtlCol="0" anchor="ctr"/>
          <a:lstStyle/>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Attach rates, GP-per-car and CAC/LTV: not available — limits ROI-level quantification</a:t>
            </a:r>
            <a:endParaRPr lang="en-US" sz="1030" dirty="0"/>
          </a:p>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A referenced SEMrush keyword-gap export was never supplied</a:t>
            </a:r>
            <a:endParaRPr lang="en-US" sz="1030" dirty="0"/>
          </a:p>
          <a:p>
            <a:pPr marL="342900" indent="-342900">
              <a:lnSpc>
                <a:spcPct val="120000"/>
              </a:lnSpc>
              <a:spcAft>
                <a:spcPts val="1000"/>
              </a:spcAft>
              <a:buSzPct val="100000"/>
              <a:buChar char="▪"/>
            </a:pPr>
            <a:r>
              <a:rPr lang="en-US" sz="1030" dirty="0">
                <a:solidFill>
                  <a:srgbClr val="1A1A1A"/>
                </a:solidFill>
                <a:latin typeface="Calibri" pitchFamily="34" charset="0"/>
                <a:ea typeface="Calibri" pitchFamily="34" charset="-122"/>
                <a:cs typeface="Calibri" pitchFamily="34" charset="-120"/>
              </a:rPr>
              <a:t>Competitor channel-mix reads are inference, not verified data</a:t>
            </a:r>
            <a:endParaRPr lang="en-US" sz="1030" dirty="0"/>
          </a:p>
        </p:txBody>
      </p:sp>
      <p:sp>
        <p:nvSpPr>
          <p:cNvPr id="16" name="Text 11"/>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8</a:t>
            </a:r>
            <a:endParaRPr lang="en-US" sz="1000" dirty="0"/>
          </a:p>
        </p:txBody>
      </p:sp>
      <p:sp>
        <p:nvSpPr>
          <p:cNvPr id="17" name="Text 12"/>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indent="0" marL="0">
              <a:buNone/>
            </a:pPr>
            <a:r>
              <a:rPr lang="en-US" sz="1200" b="1" spc="200" kern="0" dirty="0">
                <a:solidFill>
                  <a:srgbClr val="AEBBE8"/>
                </a:solidFill>
                <a:latin typeface="Calibri" pitchFamily="34" charset="0"/>
                <a:ea typeface="Calibri" pitchFamily="34" charset="-122"/>
                <a:cs typeface="Calibri" pitchFamily="34" charset="-120"/>
              </a:rPr>
              <a:t>KEY TAKEAWAYS</a:t>
            </a:r>
            <a:endParaRPr lang="en-US" sz="1200" dirty="0"/>
          </a:p>
        </p:txBody>
      </p:sp>
      <p:sp>
        <p:nvSpPr>
          <p:cNvPr id="3" name="Text 1"/>
          <p:cNvSpPr/>
          <p:nvPr/>
        </p:nvSpPr>
        <p:spPr>
          <a:xfrm>
            <a:off x="548640" y="694944"/>
            <a:ext cx="11064240" cy="1188720"/>
          </a:xfrm>
          <a:prstGeom prst="rect">
            <a:avLst/>
          </a:prstGeom>
          <a:noFill/>
          <a:ln/>
        </p:spPr>
        <p:txBody>
          <a:bodyPr wrap="square" lIns="0" tIns="0" rIns="0" bIns="0" rtlCol="0" anchor="ctr"/>
          <a:lstStyle/>
          <a:p>
            <a:pPr indent="0" marL="0">
              <a:lnSpc>
                <a:spcPct val="108000"/>
              </a:lnSpc>
              <a:buNone/>
            </a:pPr>
            <a:r>
              <a:rPr lang="en-US" sz="2700" b="1" dirty="0">
                <a:solidFill>
                  <a:srgbClr val="FFFFFF"/>
                </a:solidFill>
                <a:latin typeface="Calibri" pitchFamily="34" charset="0"/>
                <a:ea typeface="Calibri" pitchFamily="34" charset="-122"/>
                <a:cs typeface="Calibri" pitchFamily="34" charset="-120"/>
              </a:rPr>
              <a:t>Spinny doesn’t need a new strategy — it needs post-sales execution to catch up to the strategy it already has.</a:t>
            </a:r>
            <a:endParaRPr lang="en-US" sz="2700" dirty="0"/>
          </a:p>
        </p:txBody>
      </p:sp>
      <p:sp>
        <p:nvSpPr>
          <p:cNvPr id="4" name="Shape 2"/>
          <p:cNvSpPr/>
          <p:nvPr/>
        </p:nvSpPr>
        <p:spPr>
          <a:xfrm>
            <a:off x="548640" y="2194560"/>
            <a:ext cx="292608" cy="292608"/>
          </a:xfrm>
          <a:prstGeom prst="ellipse">
            <a:avLst/>
          </a:prstGeom>
          <a:solidFill>
            <a:srgbClr val="232C6B"/>
          </a:solidFill>
          <a:ln/>
        </p:spPr>
      </p:sp>
      <p:sp>
        <p:nvSpPr>
          <p:cNvPr id="5" name="Text 3"/>
          <p:cNvSpPr/>
          <p:nvPr/>
        </p:nvSpPr>
        <p:spPr>
          <a:xfrm>
            <a:off x="548640" y="2194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05840" y="2103120"/>
            <a:ext cx="10607040" cy="777240"/>
          </a:xfrm>
          <a:prstGeom prst="rect">
            <a:avLst/>
          </a:prstGeom>
          <a:noFill/>
          <a:ln/>
        </p:spPr>
        <p:txBody>
          <a:bodyPr wrap="square" lIns="0" tIns="0" rIns="0" bIns="0" rtlCol="0" anchor="ctr"/>
          <a:lstStyle/>
          <a:p>
            <a:pPr indent="0" marL="0">
              <a:lnSpc>
                <a:spcPct val="120000"/>
              </a:lnSpc>
              <a:buNone/>
            </a:pPr>
            <a:r>
              <a:rPr lang="en-US" sz="1300" dirty="0">
                <a:solidFill>
                  <a:srgbClr val="D9E2FA"/>
                </a:solidFill>
                <a:latin typeface="Calibri" pitchFamily="34" charset="0"/>
                <a:ea typeface="Calibri" pitchFamily="34" charset="-122"/>
                <a:cs typeface="Calibri" pitchFamily="34" charset="-120"/>
              </a:rPr>
              <a:t>Trust is the product, and ownership is how Spinny manufactures it — the single insight behind every structural choice the company has made.</a:t>
            </a:r>
            <a:endParaRPr lang="en-US" sz="1300" dirty="0"/>
          </a:p>
        </p:txBody>
      </p:sp>
      <p:sp>
        <p:nvSpPr>
          <p:cNvPr id="7" name="Shape 5"/>
          <p:cNvSpPr/>
          <p:nvPr/>
        </p:nvSpPr>
        <p:spPr>
          <a:xfrm>
            <a:off x="548640" y="3063240"/>
            <a:ext cx="292608" cy="292608"/>
          </a:xfrm>
          <a:prstGeom prst="ellipse">
            <a:avLst/>
          </a:prstGeom>
          <a:solidFill>
            <a:srgbClr val="232C6B"/>
          </a:solidFill>
          <a:ln/>
        </p:spPr>
      </p:sp>
      <p:sp>
        <p:nvSpPr>
          <p:cNvPr id="8" name="Text 6"/>
          <p:cNvSpPr/>
          <p:nvPr/>
        </p:nvSpPr>
        <p:spPr>
          <a:xfrm>
            <a:off x="548640" y="30632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05840" y="2971800"/>
            <a:ext cx="10607040" cy="777240"/>
          </a:xfrm>
          <a:prstGeom prst="rect">
            <a:avLst/>
          </a:prstGeom>
          <a:noFill/>
          <a:ln/>
        </p:spPr>
        <p:txBody>
          <a:bodyPr wrap="square" lIns="0" tIns="0" rIns="0" bIns="0" rtlCol="0" anchor="ctr"/>
          <a:lstStyle/>
          <a:p>
            <a:pPr indent="0" marL="0">
              <a:lnSpc>
                <a:spcPct val="120000"/>
              </a:lnSpc>
              <a:buNone/>
            </a:pPr>
            <a:r>
              <a:rPr lang="en-US" sz="1300" dirty="0">
                <a:solidFill>
                  <a:srgbClr val="D9E2FA"/>
                </a:solidFill>
                <a:latin typeface="Calibri" pitchFamily="34" charset="0"/>
                <a:ea typeface="Calibri" pitchFamily="34" charset="-122"/>
                <a:cs typeface="Calibri" pitchFamily="34" charset="-120"/>
              </a:rPr>
              <a:t>The 2024–26 acquisitions (financing, service, media, EV exchange) all convert one thin-margin sale into a recurring, higher-margin relationship.</a:t>
            </a:r>
            <a:endParaRPr lang="en-US" sz="1300" dirty="0"/>
          </a:p>
        </p:txBody>
      </p:sp>
      <p:sp>
        <p:nvSpPr>
          <p:cNvPr id="10" name="Shape 8"/>
          <p:cNvSpPr/>
          <p:nvPr/>
        </p:nvSpPr>
        <p:spPr>
          <a:xfrm>
            <a:off x="548640" y="3931920"/>
            <a:ext cx="292608" cy="292608"/>
          </a:xfrm>
          <a:prstGeom prst="ellipse">
            <a:avLst/>
          </a:prstGeom>
          <a:solidFill>
            <a:srgbClr val="232C6B"/>
          </a:solidFill>
          <a:ln/>
        </p:spPr>
      </p:sp>
      <p:sp>
        <p:nvSpPr>
          <p:cNvPr id="11" name="Text 9"/>
          <p:cNvSpPr/>
          <p:nvPr/>
        </p:nvSpPr>
        <p:spPr>
          <a:xfrm>
            <a:off x="548640" y="39319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05840" y="3840480"/>
            <a:ext cx="10607040" cy="777240"/>
          </a:xfrm>
          <a:prstGeom prst="rect">
            <a:avLst/>
          </a:prstGeom>
          <a:noFill/>
          <a:ln/>
        </p:spPr>
        <p:txBody>
          <a:bodyPr wrap="square" lIns="0" tIns="0" rIns="0" bIns="0" rtlCol="0" anchor="ctr"/>
          <a:lstStyle/>
          <a:p>
            <a:pPr indent="0" marL="0">
              <a:lnSpc>
                <a:spcPct val="120000"/>
              </a:lnSpc>
              <a:buNone/>
            </a:pPr>
            <a:r>
              <a:rPr lang="en-US" sz="1300" dirty="0">
                <a:solidFill>
                  <a:srgbClr val="D9E2FA"/>
                </a:solidFill>
                <a:latin typeface="Calibri" pitchFamily="34" charset="0"/>
                <a:ea typeface="Calibri" pitchFamily="34" charset="-122"/>
                <a:cs typeface="Calibri" pitchFamily="34" charset="-120"/>
              </a:rPr>
              <a:t>Category leadership is already secured; the swing factor for the IPO is unit economics, not market position.</a:t>
            </a:r>
            <a:endParaRPr lang="en-US" sz="1300" dirty="0"/>
          </a:p>
        </p:txBody>
      </p:sp>
      <p:sp>
        <p:nvSpPr>
          <p:cNvPr id="13" name="Shape 11"/>
          <p:cNvSpPr/>
          <p:nvPr/>
        </p:nvSpPr>
        <p:spPr>
          <a:xfrm>
            <a:off x="548640" y="4800600"/>
            <a:ext cx="292608" cy="292608"/>
          </a:xfrm>
          <a:prstGeom prst="ellipse">
            <a:avLst/>
          </a:prstGeom>
          <a:solidFill>
            <a:srgbClr val="232C6B"/>
          </a:solidFill>
          <a:ln/>
        </p:spPr>
      </p:sp>
      <p:sp>
        <p:nvSpPr>
          <p:cNvPr id="14" name="Text 12"/>
          <p:cNvSpPr/>
          <p:nvPr/>
        </p:nvSpPr>
        <p:spPr>
          <a:xfrm>
            <a:off x="548640" y="4800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005840" y="4709160"/>
            <a:ext cx="10607040" cy="777240"/>
          </a:xfrm>
          <a:prstGeom prst="rect">
            <a:avLst/>
          </a:prstGeom>
          <a:noFill/>
          <a:ln/>
        </p:spPr>
        <p:txBody>
          <a:bodyPr wrap="square" lIns="0" tIns="0" rIns="0" bIns="0" rtlCol="0" anchor="ctr"/>
          <a:lstStyle/>
          <a:p>
            <a:pPr indent="0" marL="0">
              <a:lnSpc>
                <a:spcPct val="120000"/>
              </a:lnSpc>
              <a:buNone/>
            </a:pPr>
            <a:r>
              <a:rPr lang="en-US" sz="1300" dirty="0">
                <a:solidFill>
                  <a:srgbClr val="D9E2FA"/>
                </a:solidFill>
                <a:latin typeface="Calibri" pitchFamily="34" charset="0"/>
                <a:ea typeface="Calibri" pitchFamily="34" charset="-122"/>
                <a:cs typeface="Calibri" pitchFamily="34" charset="-120"/>
              </a:rPr>
              <a:t>Post-sales service quality is the one fix that unlocks everything else — loyalty, EV trust, and lifecycle LTV all depend on it.</a:t>
            </a:r>
            <a:endParaRPr lang="en-US" sz="1300" dirty="0"/>
          </a:p>
        </p:txBody>
      </p:sp>
      <p:sp>
        <p:nvSpPr>
          <p:cNvPr id="16" name="Text 14"/>
          <p:cNvSpPr/>
          <p:nvPr/>
        </p:nvSpPr>
        <p:spPr>
          <a:xfrm>
            <a:off x="11365992" y="6355080"/>
            <a:ext cx="457200" cy="320040"/>
          </a:xfrm>
          <a:prstGeom prst="rect">
            <a:avLst/>
          </a:prstGeom>
          <a:noFill/>
          <a:ln/>
        </p:spPr>
        <p:txBody>
          <a:bodyPr wrap="square" rtlCol="0" anchor="ctr"/>
          <a:lstStyle/>
          <a:p>
            <a:pPr algn="r" indent="0" marL="0">
              <a:buNone/>
            </a:pPr>
            <a:r>
              <a:rPr lang="en-US" sz="1000" dirty="0">
                <a:solidFill>
                  <a:srgbClr val="8891B5"/>
                </a:solidFill>
                <a:latin typeface="Calibri" pitchFamily="34" charset="0"/>
                <a:ea typeface="Calibri" pitchFamily="34" charset="-122"/>
                <a:cs typeface="Calibri" pitchFamily="34" charset="-120"/>
              </a:rPr>
              <a:t>9</a:t>
            </a:r>
            <a:endParaRPr lang="en-US" sz="1000" dirty="0"/>
          </a:p>
        </p:txBody>
      </p:sp>
      <p:sp>
        <p:nvSpPr>
          <p:cNvPr id="17" name="Text 15"/>
          <p:cNvSpPr/>
          <p:nvPr/>
        </p:nvSpPr>
        <p:spPr>
          <a:xfrm>
            <a:off x="548640" y="6355080"/>
            <a:ext cx="6400800" cy="320040"/>
          </a:xfrm>
          <a:prstGeom prst="rect">
            <a:avLst/>
          </a:prstGeom>
          <a:noFill/>
          <a:ln/>
        </p:spPr>
        <p:txBody>
          <a:bodyPr wrap="square" rtlCol="0" anchor="ctr"/>
          <a:lstStyle/>
          <a:p>
            <a:pPr indent="0" marL="0">
              <a:buNone/>
            </a:pPr>
            <a:r>
              <a:rPr lang="en-US" sz="900" spc="100" kern="0" dirty="0">
                <a:solidFill>
                  <a:srgbClr val="8891B5"/>
                </a:solidFill>
                <a:latin typeface="Calibri" pitchFamily="34" charset="0"/>
                <a:ea typeface="Calibri" pitchFamily="34" charset="-122"/>
                <a:cs typeface="Calibri" pitchFamily="34" charset="-120"/>
              </a:rPr>
              <a:t>SPINNY · MARKET &amp; COMPETITIVE INTELLIGENCE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Spinny — Market Analysis &amp; Competitive Intelligence</dc:title>
  <dc:subject>PptxGenJS Presentation</dc:subject>
  <dc:creator>Product Management with AI — Batch 02</dc:creator>
  <cp:lastModifiedBy>Product Management with AI — Batch 02</cp:lastModifiedBy>
  <cp:revision>1</cp:revision>
  <dcterms:created xsi:type="dcterms:W3CDTF">2026-07-01T12:56:43Z</dcterms:created>
  <dcterms:modified xsi:type="dcterms:W3CDTF">2026-07-01T12:56:43Z</dcterms:modified>
</cp:coreProperties>
</file>